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64" r:id="rId3"/>
    <p:sldId id="257" r:id="rId4"/>
    <p:sldId id="260" r:id="rId5"/>
    <p:sldId id="269" r:id="rId6"/>
    <p:sldId id="271" r:id="rId7"/>
    <p:sldId id="273" r:id="rId8"/>
    <p:sldId id="261" r:id="rId9"/>
    <p:sldId id="274" r:id="rId10"/>
    <p:sldId id="275" r:id="rId11"/>
    <p:sldId id="276" r:id="rId12"/>
    <p:sldId id="277" r:id="rId13"/>
    <p:sldId id="278" r:id="rId14"/>
    <p:sldId id="279" r:id="rId15"/>
    <p:sldId id="280" r:id="rId16"/>
    <p:sldId id="281" r:id="rId17"/>
    <p:sldId id="282" r:id="rId18"/>
    <p:sldId id="263" r:id="rId19"/>
    <p:sldId id="284" r:id="rId20"/>
    <p:sldId id="285" r:id="rId21"/>
    <p:sldId id="286" r:id="rId22"/>
    <p:sldId id="287" r:id="rId23"/>
    <p:sldId id="288" r:id="rId24"/>
    <p:sldId id="289" r:id="rId25"/>
    <p:sldId id="291" r:id="rId26"/>
    <p:sldId id="290" r:id="rId27"/>
    <p:sldId id="292" r:id="rId28"/>
    <p:sldId id="265" r:id="rId29"/>
  </p:sldIdLst>
  <p:sldSz cx="18288000" cy="10287000"/>
  <p:notesSz cx="6858000" cy="9144000"/>
  <p:embeddedFontLst>
    <p:embeddedFont>
      <p:font typeface="Archivo Black" panose="020B0604020202020204" charset="0"/>
      <p:regular r:id="rId31"/>
    </p:embeddedFont>
    <p:embeddedFont>
      <p:font typeface="DM Serif Display" pitchFamily="2" charset="0"/>
      <p:regular r:id="rId32"/>
      <p:italic r:id="rId33"/>
    </p:embeddedFont>
    <p:embeddedFont>
      <p:font typeface="Garet" panose="020B0604020202020204" charset="0"/>
      <p:regular r:id="rId34"/>
    </p:embeddedFont>
    <p:embeddedFont>
      <p:font typeface="Garet Bold" panose="020B0604020202020204" charset="0"/>
      <p:regular r:id="rId35"/>
    </p:embeddedFont>
    <p:embeddedFont>
      <p:font typeface="Garet Light"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8" d="100"/>
          <a:sy n="68" d="100"/>
        </p:scale>
        <p:origin x="89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8491F-3C8A-4BFC-BCE8-32603EAECE28}" type="datetimeFigureOut">
              <a:rPr lang="en-US" smtClean="0"/>
              <a:t>12/25/2025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486BD3-096B-4399-B051-38910CC6F3F5}" type="slidenum">
              <a:rPr lang="en-US" smtClean="0"/>
              <a:t>‹#›</a:t>
            </a:fld>
            <a:endParaRPr lang="en-US"/>
          </a:p>
        </p:txBody>
      </p:sp>
    </p:spTree>
    <p:extLst>
      <p:ext uri="{BB962C8B-B14F-4D97-AF65-F5344CB8AC3E}">
        <p14:creationId xmlns:p14="http://schemas.microsoft.com/office/powerpoint/2010/main" val="2801753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486BD3-096B-4399-B051-38910CC6F3F5}" type="slidenum">
              <a:rPr lang="en-US" smtClean="0"/>
              <a:t>8</a:t>
            </a:fld>
            <a:endParaRPr lang="en-US"/>
          </a:p>
        </p:txBody>
      </p:sp>
    </p:spTree>
    <p:extLst>
      <p:ext uri="{BB962C8B-B14F-4D97-AF65-F5344CB8AC3E}">
        <p14:creationId xmlns:p14="http://schemas.microsoft.com/office/powerpoint/2010/main" val="753054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Freeform 3"/>
          <p:cNvSpPr/>
          <p:nvPr/>
        </p:nvSpPr>
        <p:spPr>
          <a:xfrm>
            <a:off x="16255598" y="8877478"/>
            <a:ext cx="1880002" cy="946837"/>
          </a:xfrm>
          <a:custGeom>
            <a:avLst/>
            <a:gdLst/>
            <a:ahLst/>
            <a:cxnLst/>
            <a:rect l="l" t="t" r="r" b="b"/>
            <a:pathLst>
              <a:path w="1880002" h="946837">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028700" y="1028700"/>
            <a:ext cx="797433" cy="707541"/>
          </a:xfrm>
          <a:custGeom>
            <a:avLst/>
            <a:gdLst/>
            <a:ahLst/>
            <a:cxnLst/>
            <a:rect l="l" t="t" r="r" b="b"/>
            <a:pathLst>
              <a:path w="797433" h="707541">
                <a:moveTo>
                  <a:pt x="0" y="0"/>
                </a:moveTo>
                <a:lnTo>
                  <a:pt x="797433" y="0"/>
                </a:lnTo>
                <a:lnTo>
                  <a:pt x="797433" y="707541"/>
                </a:lnTo>
                <a:lnTo>
                  <a:pt x="0" y="70754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8839200" y="6764060"/>
            <a:ext cx="8837970" cy="377989"/>
          </a:xfrm>
          <a:prstGeom prst="rect">
            <a:avLst/>
          </a:prstGeom>
        </p:spPr>
        <p:txBody>
          <a:bodyPr wrap="square" lIns="0" tIns="0" rIns="0" bIns="0" rtlCol="0" anchor="t">
            <a:spAutoFit/>
          </a:bodyPr>
          <a:lstStyle/>
          <a:p>
            <a:pPr marL="0" lvl="0" indent="0" algn="r">
              <a:lnSpc>
                <a:spcPts val="2748"/>
              </a:lnSpc>
              <a:spcBef>
                <a:spcPct val="0"/>
              </a:spcBef>
            </a:pPr>
            <a:r>
              <a:rPr lang="vi-VN" sz="3600" b="1">
                <a:solidFill>
                  <a:srgbClr val="000000"/>
                </a:solidFill>
                <a:ea typeface="Archivo Black"/>
                <a:cs typeface="Archivo Black"/>
                <a:sym typeface="Archivo Black"/>
              </a:rPr>
              <a:t>Giáo viên hướng dẫn:</a:t>
            </a:r>
            <a:r>
              <a:rPr lang="vi-VN" sz="3600">
                <a:solidFill>
                  <a:srgbClr val="000000"/>
                </a:solidFill>
                <a:ea typeface="Archivo Black"/>
                <a:cs typeface="Archivo Black"/>
                <a:sym typeface="Archivo Black"/>
              </a:rPr>
              <a:t>Thầy Đỗ Như Tài</a:t>
            </a:r>
            <a:endParaRPr lang="en-US" sz="3600">
              <a:solidFill>
                <a:srgbClr val="000000"/>
              </a:solidFill>
              <a:ea typeface="Archivo Black"/>
              <a:cs typeface="Archivo Black"/>
              <a:sym typeface="Archivo Black"/>
            </a:endParaRPr>
          </a:p>
        </p:txBody>
      </p:sp>
      <p:sp>
        <p:nvSpPr>
          <p:cNvPr id="6" name="TextBox 6"/>
          <p:cNvSpPr txBox="1"/>
          <p:nvPr/>
        </p:nvSpPr>
        <p:spPr>
          <a:xfrm>
            <a:off x="1028700" y="8477260"/>
            <a:ext cx="2171700" cy="873637"/>
          </a:xfrm>
          <a:prstGeom prst="rect">
            <a:avLst/>
          </a:prstGeom>
        </p:spPr>
        <p:txBody>
          <a:bodyPr wrap="square" lIns="0" tIns="0" rIns="0" bIns="0" rtlCol="0" anchor="t">
            <a:spAutoFit/>
          </a:bodyPr>
          <a:lstStyle/>
          <a:p>
            <a:pPr marL="0" lvl="0" indent="0" algn="l">
              <a:lnSpc>
                <a:spcPct val="150000"/>
              </a:lnSpc>
              <a:spcBef>
                <a:spcPct val="0"/>
              </a:spcBef>
            </a:pPr>
            <a:r>
              <a:rPr lang="vi-VN" sz="2000" b="1">
                <a:solidFill>
                  <a:srgbClr val="2B2B2B"/>
                </a:solidFill>
                <a:ea typeface="Garet Bold"/>
                <a:cs typeface="Garet Bold"/>
                <a:sym typeface="Garet Bold"/>
              </a:rPr>
              <a:t>Học phần:</a:t>
            </a:r>
          </a:p>
          <a:p>
            <a:pPr marL="0" lvl="0" indent="0" algn="l">
              <a:lnSpc>
                <a:spcPct val="150000"/>
              </a:lnSpc>
              <a:spcBef>
                <a:spcPct val="0"/>
              </a:spcBef>
            </a:pPr>
            <a:r>
              <a:rPr lang="vi-VN" sz="2000">
                <a:solidFill>
                  <a:srgbClr val="2B2B2B"/>
                </a:solidFill>
                <a:ea typeface="Garet Bold"/>
                <a:cs typeface="Garet Bold"/>
                <a:sym typeface="Garet Bold"/>
              </a:rPr>
              <a:t>Khai phá dữ liệu</a:t>
            </a:r>
            <a:endParaRPr lang="en-US" sz="2000">
              <a:solidFill>
                <a:srgbClr val="2B2B2B"/>
              </a:solidFill>
              <a:ea typeface="Garet Bold"/>
              <a:cs typeface="Garet Bold"/>
              <a:sym typeface="Garet Bold"/>
            </a:endParaRPr>
          </a:p>
        </p:txBody>
      </p:sp>
      <p:sp>
        <p:nvSpPr>
          <p:cNvPr id="8" name="TextBox 8"/>
          <p:cNvSpPr txBox="1"/>
          <p:nvPr/>
        </p:nvSpPr>
        <p:spPr>
          <a:xfrm>
            <a:off x="4558704" y="8460863"/>
            <a:ext cx="3366096" cy="873637"/>
          </a:xfrm>
          <a:prstGeom prst="rect">
            <a:avLst/>
          </a:prstGeom>
        </p:spPr>
        <p:txBody>
          <a:bodyPr lIns="0" tIns="0" rIns="0" bIns="0" rtlCol="0" anchor="t">
            <a:spAutoFit/>
          </a:bodyPr>
          <a:lstStyle/>
          <a:p>
            <a:pPr marL="0" lvl="0" indent="0" algn="l">
              <a:lnSpc>
                <a:spcPct val="150000"/>
              </a:lnSpc>
              <a:spcBef>
                <a:spcPct val="0"/>
              </a:spcBef>
            </a:pPr>
            <a:r>
              <a:rPr lang="vi-VN" sz="2000" b="1">
                <a:solidFill>
                  <a:srgbClr val="2B2B2B"/>
                </a:solidFill>
                <a:ea typeface="Garet Bold"/>
                <a:cs typeface="Garet Bold"/>
                <a:sym typeface="Garet Bold"/>
              </a:rPr>
              <a:t>Năm học</a:t>
            </a:r>
            <a:r>
              <a:rPr lang="en-US" sz="2000" b="1">
                <a:solidFill>
                  <a:srgbClr val="2B2B2B"/>
                </a:solidFill>
                <a:ea typeface="Garet Bold"/>
                <a:cs typeface="Garet Bold"/>
                <a:sym typeface="Garet Bold"/>
              </a:rPr>
              <a:t>:</a:t>
            </a:r>
            <a:endParaRPr lang="vi-VN" sz="2000" b="1">
              <a:solidFill>
                <a:srgbClr val="2B2B2B"/>
              </a:solidFill>
              <a:ea typeface="Garet Bold"/>
              <a:cs typeface="Garet Bold"/>
              <a:sym typeface="Garet Bold"/>
            </a:endParaRPr>
          </a:p>
          <a:p>
            <a:pPr marL="0" lvl="0" indent="0" algn="l">
              <a:lnSpc>
                <a:spcPct val="150000"/>
              </a:lnSpc>
              <a:spcBef>
                <a:spcPct val="0"/>
              </a:spcBef>
            </a:pPr>
            <a:r>
              <a:rPr lang="vi-VN" sz="2000">
                <a:solidFill>
                  <a:srgbClr val="2B2B2B"/>
                </a:solidFill>
                <a:ea typeface="Garet Bold"/>
                <a:cs typeface="Garet Bold"/>
                <a:sym typeface="Garet Bold"/>
              </a:rPr>
              <a:t>HK1 - 2025</a:t>
            </a:r>
            <a:endParaRPr lang="en-US" sz="2000">
              <a:solidFill>
                <a:srgbClr val="2B2B2B"/>
              </a:solidFill>
              <a:ea typeface="Garet Bold"/>
              <a:cs typeface="Garet Bold"/>
              <a:sym typeface="Garet Bold"/>
            </a:endParaRPr>
          </a:p>
        </p:txBody>
      </p:sp>
      <p:sp>
        <p:nvSpPr>
          <p:cNvPr id="12" name="TextBox 12"/>
          <p:cNvSpPr txBox="1"/>
          <p:nvPr/>
        </p:nvSpPr>
        <p:spPr>
          <a:xfrm>
            <a:off x="1968701" y="990600"/>
            <a:ext cx="2755699" cy="786241"/>
          </a:xfrm>
          <a:prstGeom prst="rect">
            <a:avLst/>
          </a:prstGeom>
        </p:spPr>
        <p:txBody>
          <a:bodyPr wrap="square" lIns="0" tIns="0" rIns="0" bIns="0" rtlCol="0" anchor="t">
            <a:spAutoFit/>
          </a:bodyPr>
          <a:lstStyle/>
          <a:p>
            <a:pPr algn="l">
              <a:lnSpc>
                <a:spcPct val="150000"/>
              </a:lnSpc>
            </a:pPr>
            <a:r>
              <a:rPr lang="vi-VN">
                <a:solidFill>
                  <a:srgbClr val="545454"/>
                </a:solidFill>
                <a:ea typeface="Garet Light"/>
                <a:cs typeface="Garet Light"/>
                <a:sym typeface="Garet Light"/>
              </a:rPr>
              <a:t>Trường Đại học Sài Gòn</a:t>
            </a:r>
          </a:p>
          <a:p>
            <a:pPr algn="l">
              <a:lnSpc>
                <a:spcPct val="150000"/>
              </a:lnSpc>
            </a:pPr>
            <a:r>
              <a:rPr lang="vi-VN" sz="1800">
                <a:solidFill>
                  <a:srgbClr val="545454"/>
                </a:solidFill>
                <a:ea typeface="Garet Light"/>
                <a:cs typeface="Garet Light"/>
                <a:sym typeface="Garet Light"/>
              </a:rPr>
              <a:t>Khoa Toán - Ứng dụng</a:t>
            </a:r>
            <a:endParaRPr lang="en-US" sz="1800">
              <a:solidFill>
                <a:srgbClr val="545454"/>
              </a:solidFill>
              <a:ea typeface="Garet Light"/>
              <a:cs typeface="Garet Light"/>
              <a:sym typeface="Garet Light"/>
            </a:endParaRPr>
          </a:p>
        </p:txBody>
      </p:sp>
      <p:sp>
        <p:nvSpPr>
          <p:cNvPr id="13" name="TextBox 13"/>
          <p:cNvSpPr txBox="1"/>
          <p:nvPr/>
        </p:nvSpPr>
        <p:spPr>
          <a:xfrm>
            <a:off x="13231893" y="1202386"/>
            <a:ext cx="5170540" cy="359714"/>
          </a:xfrm>
          <a:prstGeom prst="rect">
            <a:avLst/>
          </a:prstGeom>
        </p:spPr>
        <p:txBody>
          <a:bodyPr lIns="0" tIns="0" rIns="0" bIns="0" rtlCol="0" anchor="t">
            <a:spAutoFit/>
          </a:bodyPr>
          <a:lstStyle/>
          <a:p>
            <a:pPr algn="l">
              <a:lnSpc>
                <a:spcPts val="2939"/>
              </a:lnSpc>
              <a:spcBef>
                <a:spcPct val="0"/>
              </a:spcBef>
            </a:pPr>
            <a:r>
              <a:rPr lang="vi-VN" sz="2099">
                <a:solidFill>
                  <a:schemeClr val="tx1">
                    <a:lumMod val="50000"/>
                    <a:lumOff val="50000"/>
                  </a:schemeClr>
                </a:solidFill>
                <a:ea typeface="Garet"/>
                <a:cs typeface="Garet"/>
                <a:sym typeface="Garet"/>
              </a:rPr>
              <a:t>Thành phố Hồ Chí Minh, năm 2025</a:t>
            </a:r>
            <a:endParaRPr lang="en-US" sz="2099">
              <a:solidFill>
                <a:schemeClr val="tx1">
                  <a:lumMod val="50000"/>
                  <a:lumOff val="50000"/>
                </a:schemeClr>
              </a:solidFill>
              <a:ea typeface="Garet"/>
              <a:cs typeface="Garet"/>
              <a:sym typeface="Garet"/>
            </a:endParaRPr>
          </a:p>
        </p:txBody>
      </p:sp>
      <p:sp>
        <p:nvSpPr>
          <p:cNvPr id="16" name="TextBox 15"/>
          <p:cNvSpPr txBox="1"/>
          <p:nvPr/>
        </p:nvSpPr>
        <p:spPr>
          <a:xfrm>
            <a:off x="1143000" y="2453775"/>
            <a:ext cx="15900187" cy="5623271"/>
          </a:xfrm>
          <a:prstGeom prst="rect">
            <a:avLst/>
          </a:prstGeom>
        </p:spPr>
        <p:txBody>
          <a:bodyPr wrap="square" lIns="0" tIns="0" rIns="0" bIns="0" rtlCol="0" anchor="t">
            <a:spAutoFit/>
          </a:bodyPr>
          <a:lstStyle/>
          <a:p>
            <a:pPr algn="ctr">
              <a:lnSpc>
                <a:spcPct val="150000"/>
              </a:lnSpc>
              <a:spcBef>
                <a:spcPct val="0"/>
              </a:spcBef>
            </a:pPr>
            <a:r>
              <a:rPr lang="vi-VN" sz="6600" b="1"/>
              <a:t>DỰ ĐOÁN TIN TUYỂN DỤNG GIẢ MẠO BẰNG KỸ THUẬT KHAI PHÁ DỮ LIỆU</a:t>
            </a:r>
            <a:br>
              <a:rPr lang="en-US" sz="6600" b="1"/>
            </a:br>
            <a:endParaRPr lang="en-US" sz="6600" b="1">
              <a:solidFill>
                <a:srgbClr val="000000"/>
              </a:solidFill>
              <a:latin typeface="DM Serif Display"/>
              <a:ea typeface="DM Serif Display"/>
              <a:cs typeface="DM Serif Display"/>
              <a:sym typeface="DM Serif Display"/>
            </a:endParaRPr>
          </a:p>
          <a:p>
            <a:pPr marL="0" lvl="0" indent="0" algn="r">
              <a:lnSpc>
                <a:spcPts val="8490"/>
              </a:lnSpc>
              <a:spcBef>
                <a:spcPct val="0"/>
              </a:spcBef>
            </a:pPr>
            <a:endParaRPr lang="en-US" sz="6600" b="1" u="none" spc="-859">
              <a:solidFill>
                <a:srgbClr val="000000"/>
              </a:solidFill>
              <a:latin typeface="Archivo Black"/>
              <a:ea typeface="Archivo Black"/>
              <a:cs typeface="Archivo Black"/>
              <a:sym typeface="Archivo Black"/>
            </a:endParaRPr>
          </a:p>
        </p:txBody>
      </p:sp>
      <p:sp>
        <p:nvSpPr>
          <p:cNvPr id="17" name="TextBox 16">
            <a:extLst>
              <a:ext uri="{FF2B5EF4-FFF2-40B4-BE49-F238E27FC236}">
                <a16:creationId xmlns:a16="http://schemas.microsoft.com/office/drawing/2014/main" id="{4AD002F4-F52D-9E60-CEF7-D373AAD4A07E}"/>
              </a:ext>
            </a:extLst>
          </p:cNvPr>
          <p:cNvSpPr txBox="1"/>
          <p:nvPr/>
        </p:nvSpPr>
        <p:spPr>
          <a:xfrm>
            <a:off x="7315200" y="8553390"/>
            <a:ext cx="3366096" cy="400110"/>
          </a:xfrm>
          <a:prstGeom prst="rect">
            <a:avLst/>
          </a:prstGeom>
          <a:noFill/>
        </p:spPr>
        <p:txBody>
          <a:bodyPr wrap="square" rtlCol="0">
            <a:spAutoFit/>
          </a:bodyPr>
          <a:lstStyle/>
          <a:p>
            <a:r>
              <a:rPr lang="vi-VN" sz="2000" b="1"/>
              <a:t>Đề tài thi cuối kì</a:t>
            </a:r>
            <a:endParaRPr lang="en-US" sz="2000" b="1"/>
          </a:p>
        </p:txBody>
      </p:sp>
      <p:sp>
        <p:nvSpPr>
          <p:cNvPr id="18" name="Freeform 8">
            <a:extLst>
              <a:ext uri="{FF2B5EF4-FFF2-40B4-BE49-F238E27FC236}">
                <a16:creationId xmlns:a16="http://schemas.microsoft.com/office/drawing/2014/main" id="{166F9763-002D-E07B-45BD-BD58AEC29E0B}"/>
              </a:ext>
            </a:extLst>
          </p:cNvPr>
          <p:cNvSpPr/>
          <p:nvPr/>
        </p:nvSpPr>
        <p:spPr>
          <a:xfrm>
            <a:off x="0" y="6362700"/>
            <a:ext cx="4191000" cy="1371599"/>
          </a:xfrm>
          <a:custGeom>
            <a:avLst/>
            <a:gdLst/>
            <a:ahLst/>
            <a:cxnLst/>
            <a:rect l="l" t="t" r="r" b="b"/>
            <a:pathLst>
              <a:path w="2611028" h="1020674">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80" y="3216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21" name="TextBox 21"/>
          <p:cNvSpPr txBox="1"/>
          <p:nvPr/>
        </p:nvSpPr>
        <p:spPr>
          <a:xfrm>
            <a:off x="5316231" y="1204507"/>
            <a:ext cx="7716497" cy="743793"/>
          </a:xfrm>
          <a:prstGeom prst="rect">
            <a:avLst/>
          </a:prstGeom>
        </p:spPr>
        <p:txBody>
          <a:bodyPr wrap="square" lIns="0" tIns="0" rIns="0" bIns="0" rtlCol="0" anchor="t">
            <a:spAutoFit/>
          </a:bodyPr>
          <a:lstStyle/>
          <a:p>
            <a:pPr algn="ctr">
              <a:lnSpc>
                <a:spcPts val="5808"/>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Giới thiệu thành viên</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graphicFrame>
        <p:nvGraphicFramePr>
          <p:cNvPr id="22" name="Table 21">
            <a:extLst>
              <a:ext uri="{FF2B5EF4-FFF2-40B4-BE49-F238E27FC236}">
                <a16:creationId xmlns:a16="http://schemas.microsoft.com/office/drawing/2014/main" id="{ADE5DB53-D624-0285-671C-8EE6F3437F85}"/>
              </a:ext>
            </a:extLst>
          </p:cNvPr>
          <p:cNvGraphicFramePr>
            <a:graphicFrameLocks noGrp="1"/>
          </p:cNvGraphicFramePr>
          <p:nvPr>
            <p:extLst>
              <p:ext uri="{D42A27DB-BD31-4B8C-83A1-F6EECF244321}">
                <p14:modId xmlns:p14="http://schemas.microsoft.com/office/powerpoint/2010/main" val="2357452656"/>
              </p:ext>
            </p:extLst>
          </p:nvPr>
        </p:nvGraphicFramePr>
        <p:xfrm>
          <a:off x="1231433" y="2628900"/>
          <a:ext cx="15240000" cy="4948680"/>
        </p:xfrm>
        <a:graphic>
          <a:graphicData uri="http://schemas.openxmlformats.org/drawingml/2006/table">
            <a:tbl>
              <a:tblPr firstRow="1" bandRow="1">
                <a:tableStyleId>{616DA210-FB5B-4158-B5E0-FEB733F419BA}</a:tableStyleId>
              </a:tblPr>
              <a:tblGrid>
                <a:gridCol w="3810000">
                  <a:extLst>
                    <a:ext uri="{9D8B030D-6E8A-4147-A177-3AD203B41FA5}">
                      <a16:colId xmlns:a16="http://schemas.microsoft.com/office/drawing/2014/main" val="3053430239"/>
                    </a:ext>
                  </a:extLst>
                </a:gridCol>
                <a:gridCol w="3810000">
                  <a:extLst>
                    <a:ext uri="{9D8B030D-6E8A-4147-A177-3AD203B41FA5}">
                      <a16:colId xmlns:a16="http://schemas.microsoft.com/office/drawing/2014/main" val="997750434"/>
                    </a:ext>
                  </a:extLst>
                </a:gridCol>
                <a:gridCol w="3810000">
                  <a:extLst>
                    <a:ext uri="{9D8B030D-6E8A-4147-A177-3AD203B41FA5}">
                      <a16:colId xmlns:a16="http://schemas.microsoft.com/office/drawing/2014/main" val="3035616752"/>
                    </a:ext>
                  </a:extLst>
                </a:gridCol>
                <a:gridCol w="3810000">
                  <a:extLst>
                    <a:ext uri="{9D8B030D-6E8A-4147-A177-3AD203B41FA5}">
                      <a16:colId xmlns:a16="http://schemas.microsoft.com/office/drawing/2014/main" val="1062890872"/>
                    </a:ext>
                  </a:extLst>
                </a:gridCol>
              </a:tblGrid>
              <a:tr h="736980">
                <a:tc>
                  <a:txBody>
                    <a:bodyPr/>
                    <a:lstStyle/>
                    <a:p>
                      <a:pPr algn="ctr"/>
                      <a:r>
                        <a:rPr lang="vi-VN" sz="3000"/>
                        <a:t>STT</a:t>
                      </a:r>
                      <a:endParaRPr lang="en-US" sz="3000"/>
                    </a:p>
                  </a:txBody>
                  <a:tcPr/>
                </a:tc>
                <a:tc>
                  <a:txBody>
                    <a:bodyPr/>
                    <a:lstStyle/>
                    <a:p>
                      <a:pPr algn="ctr"/>
                      <a:r>
                        <a:rPr lang="vi-VN" sz="3000"/>
                        <a:t>Họ &amp; Tên</a:t>
                      </a:r>
                      <a:endParaRPr lang="en-US" sz="3000"/>
                    </a:p>
                  </a:txBody>
                  <a:tcPr/>
                </a:tc>
                <a:tc>
                  <a:txBody>
                    <a:bodyPr/>
                    <a:lstStyle/>
                    <a:p>
                      <a:pPr algn="ctr"/>
                      <a:r>
                        <a:rPr lang="vi-VN" sz="3000"/>
                        <a:t>MSSV</a:t>
                      </a:r>
                      <a:endParaRPr lang="en-US" sz="3000"/>
                    </a:p>
                  </a:txBody>
                  <a:tcPr/>
                </a:tc>
                <a:tc>
                  <a:txBody>
                    <a:bodyPr/>
                    <a:lstStyle/>
                    <a:p>
                      <a:pPr algn="ctr"/>
                      <a:r>
                        <a:rPr lang="vi-VN" sz="3000"/>
                        <a:t>Nhiệm vụ</a:t>
                      </a:r>
                      <a:endParaRPr lang="en-US" sz="3000"/>
                    </a:p>
                  </a:txBody>
                  <a:tcPr/>
                </a:tc>
                <a:extLst>
                  <a:ext uri="{0D108BD9-81ED-4DB2-BD59-A6C34878D82A}">
                    <a16:rowId xmlns:a16="http://schemas.microsoft.com/office/drawing/2014/main" val="1494269031"/>
                  </a:ext>
                </a:extLst>
              </a:tr>
              <a:tr h="736980">
                <a:tc>
                  <a:txBody>
                    <a:bodyPr/>
                    <a:lstStyle/>
                    <a:p>
                      <a:pPr algn="ctr"/>
                      <a:r>
                        <a:rPr lang="vi-VN" sz="3000"/>
                        <a:t>1</a:t>
                      </a:r>
                      <a:endParaRPr lang="en-US" sz="3000"/>
                    </a:p>
                  </a:txBody>
                  <a:tcPr/>
                </a:tc>
                <a:tc>
                  <a:txBody>
                    <a:bodyPr/>
                    <a:lstStyle/>
                    <a:p>
                      <a:pPr algn="ctr"/>
                      <a:r>
                        <a:rPr lang="vi-VN" sz="3000"/>
                        <a:t>Lê Phước Thành</a:t>
                      </a:r>
                      <a:endParaRPr lang="en-US" sz="3000"/>
                    </a:p>
                  </a:txBody>
                  <a:tcPr/>
                </a:tc>
                <a:tc>
                  <a:txBody>
                    <a:bodyPr/>
                    <a:lstStyle/>
                    <a:p>
                      <a:pPr algn="ctr"/>
                      <a:r>
                        <a:rPr lang="vi-VN" sz="3000"/>
                        <a:t>3123580045</a:t>
                      </a:r>
                      <a:endParaRPr lang="en-US" sz="3000"/>
                    </a:p>
                  </a:txBody>
                  <a:tcPr/>
                </a:tc>
                <a:tc>
                  <a:txBody>
                    <a:bodyPr/>
                    <a:lstStyle/>
                    <a:p>
                      <a:pPr algn="ctr"/>
                      <a:r>
                        <a:rPr lang="vi-VN" sz="3000"/>
                        <a:t>XGBoost, viết báo cáo  </a:t>
                      </a:r>
                      <a:endParaRPr lang="en-US" sz="3000"/>
                    </a:p>
                  </a:txBody>
                  <a:tcPr/>
                </a:tc>
                <a:extLst>
                  <a:ext uri="{0D108BD9-81ED-4DB2-BD59-A6C34878D82A}">
                    <a16:rowId xmlns:a16="http://schemas.microsoft.com/office/drawing/2014/main" val="530115737"/>
                  </a:ext>
                </a:extLst>
              </a:tr>
              <a:tr h="819920">
                <a:tc>
                  <a:txBody>
                    <a:bodyPr/>
                    <a:lstStyle/>
                    <a:p>
                      <a:pPr algn="ctr"/>
                      <a:r>
                        <a:rPr lang="vi-VN" sz="3000"/>
                        <a:t>2</a:t>
                      </a:r>
                      <a:endParaRPr lang="en-US" sz="3000"/>
                    </a:p>
                  </a:txBody>
                  <a:tcPr/>
                </a:tc>
                <a:tc>
                  <a:txBody>
                    <a:bodyPr/>
                    <a:lstStyle/>
                    <a:p>
                      <a:pPr algn="ctr"/>
                      <a:r>
                        <a:rPr lang="vi-VN" sz="3000"/>
                        <a:t>Nguyễn Hoàng Long</a:t>
                      </a:r>
                      <a:endParaRPr lang="en-US" sz="3000"/>
                    </a:p>
                  </a:txBody>
                  <a:tcPr/>
                </a:tc>
                <a:tc>
                  <a:txBody>
                    <a:bodyPr/>
                    <a:lstStyle/>
                    <a:p>
                      <a:pPr algn="ctr"/>
                      <a:r>
                        <a:rPr lang="vi-VN" sz="3000"/>
                        <a:t>3123580022</a:t>
                      </a:r>
                      <a:endParaRPr lang="en-US" sz="3000"/>
                    </a:p>
                  </a:txBody>
                  <a:tcPr/>
                </a:tc>
                <a:tc>
                  <a:txBody>
                    <a:bodyPr/>
                    <a:lstStyle/>
                    <a:p>
                      <a:pPr algn="ctr"/>
                      <a:r>
                        <a:rPr lang="vi-VN" sz="3000"/>
                        <a:t>Hiểu dữ liệu, Random Forest, viết báo cáo</a:t>
                      </a:r>
                      <a:endParaRPr lang="en-US" sz="3000"/>
                    </a:p>
                  </a:txBody>
                  <a:tcPr/>
                </a:tc>
                <a:extLst>
                  <a:ext uri="{0D108BD9-81ED-4DB2-BD59-A6C34878D82A}">
                    <a16:rowId xmlns:a16="http://schemas.microsoft.com/office/drawing/2014/main" val="671875795"/>
                  </a:ext>
                </a:extLst>
              </a:tr>
              <a:tr h="736980">
                <a:tc>
                  <a:txBody>
                    <a:bodyPr/>
                    <a:lstStyle/>
                    <a:p>
                      <a:pPr algn="ctr"/>
                      <a:r>
                        <a:rPr lang="vi-VN" sz="3000"/>
                        <a:t>3</a:t>
                      </a:r>
                      <a:endParaRPr lang="en-US" sz="3000"/>
                    </a:p>
                  </a:txBody>
                  <a:tcPr/>
                </a:tc>
                <a:tc>
                  <a:txBody>
                    <a:bodyPr/>
                    <a:lstStyle/>
                    <a:p>
                      <a:pPr algn="ctr"/>
                      <a:r>
                        <a:rPr lang="vi-VN" sz="3000"/>
                        <a:t>Đường Minh Đức</a:t>
                      </a:r>
                      <a:endParaRPr lang="en-US" sz="3000"/>
                    </a:p>
                  </a:txBody>
                  <a:tcPr/>
                </a:tc>
                <a:tc>
                  <a:txBody>
                    <a:bodyPr/>
                    <a:lstStyle/>
                    <a:p>
                      <a:pPr algn="ctr"/>
                      <a:r>
                        <a:rPr lang="vi-VN" sz="3000"/>
                        <a:t>3123580010</a:t>
                      </a:r>
                      <a:endParaRPr lang="en-US" sz="3000"/>
                    </a:p>
                  </a:txBody>
                  <a:tcPr/>
                </a:tc>
                <a:tc>
                  <a:txBody>
                    <a:bodyPr/>
                    <a:lstStyle/>
                    <a:p>
                      <a:pPr algn="ctr"/>
                      <a:r>
                        <a:rPr lang="vi-VN" sz="3000"/>
                        <a:t>EDA, Naive Bayes</a:t>
                      </a:r>
                      <a:endParaRPr lang="en-US" sz="3000"/>
                    </a:p>
                  </a:txBody>
                  <a:tcPr/>
                </a:tc>
                <a:extLst>
                  <a:ext uri="{0D108BD9-81ED-4DB2-BD59-A6C34878D82A}">
                    <a16:rowId xmlns:a16="http://schemas.microsoft.com/office/drawing/2014/main" val="3742668012"/>
                  </a:ext>
                </a:extLst>
              </a:tr>
              <a:tr h="736980">
                <a:tc>
                  <a:txBody>
                    <a:bodyPr/>
                    <a:lstStyle/>
                    <a:p>
                      <a:pPr algn="ctr"/>
                      <a:r>
                        <a:rPr lang="vi-VN" sz="3000"/>
                        <a:t>4</a:t>
                      </a:r>
                      <a:endParaRPr lang="en-US" sz="3000"/>
                    </a:p>
                  </a:txBody>
                  <a:tcPr/>
                </a:tc>
                <a:tc>
                  <a:txBody>
                    <a:bodyPr/>
                    <a:lstStyle/>
                    <a:p>
                      <a:pPr algn="ctr"/>
                      <a:r>
                        <a:rPr lang="vi-VN" sz="3000"/>
                        <a:t>Hà Tuấn Duy</a:t>
                      </a:r>
                      <a:endParaRPr lang="en-US" sz="3000"/>
                    </a:p>
                  </a:txBody>
                  <a:tcPr/>
                </a:tc>
                <a:tc>
                  <a:txBody>
                    <a:bodyPr/>
                    <a:lstStyle/>
                    <a:p>
                      <a:pPr algn="ctr"/>
                      <a:r>
                        <a:rPr lang="vi-VN" sz="3000"/>
                        <a:t>3123580006</a:t>
                      </a:r>
                      <a:endParaRPr lang="en-US" sz="3000"/>
                    </a:p>
                  </a:txBody>
                  <a:tcPr/>
                </a:tc>
                <a:tc>
                  <a:txBody>
                    <a:bodyPr/>
                    <a:lstStyle/>
                    <a:p>
                      <a:pPr algn="ctr"/>
                      <a:r>
                        <a:rPr lang="vi-VN" sz="3000"/>
                        <a:t>Logistic Regression, làm powerpoint</a:t>
                      </a:r>
                      <a:endParaRPr lang="en-US" sz="3000"/>
                    </a:p>
                  </a:txBody>
                  <a:tcPr/>
                </a:tc>
                <a:extLst>
                  <a:ext uri="{0D108BD9-81ED-4DB2-BD59-A6C34878D82A}">
                    <a16:rowId xmlns:a16="http://schemas.microsoft.com/office/drawing/2014/main" val="3238772476"/>
                  </a:ext>
                </a:extLst>
              </a:tr>
            </a:tbl>
          </a:graphicData>
        </a:graphic>
      </p:graphicFrame>
      <p:sp>
        <p:nvSpPr>
          <p:cNvPr id="32" name="Freeform 8">
            <a:extLst>
              <a:ext uri="{FF2B5EF4-FFF2-40B4-BE49-F238E27FC236}">
                <a16:creationId xmlns:a16="http://schemas.microsoft.com/office/drawing/2014/main" id="{6795C49E-D41D-A4AE-58F2-5C66BA125AAF}"/>
              </a:ext>
            </a:extLst>
          </p:cNvPr>
          <p:cNvSpPr/>
          <p:nvPr/>
        </p:nvSpPr>
        <p:spPr>
          <a:xfrm>
            <a:off x="0" y="8420100"/>
            <a:ext cx="18318480" cy="1878482"/>
          </a:xfrm>
          <a:custGeom>
            <a:avLst/>
            <a:gdLst/>
            <a:ahLst/>
            <a:cxnLst/>
            <a:rect l="l" t="t" r="r" b="b"/>
            <a:pathLst>
              <a:path w="2611028" h="1020674">
                <a:moveTo>
                  <a:pt x="0" y="0"/>
                </a:moveTo>
                <a:lnTo>
                  <a:pt x="2611028" y="0"/>
                </a:lnTo>
                <a:lnTo>
                  <a:pt x="2611028" y="1020675"/>
                </a:lnTo>
                <a:lnTo>
                  <a:pt x="0" y="10206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graphicFrame>
        <p:nvGraphicFramePr>
          <p:cNvPr id="3" name="Table 3"/>
          <p:cNvGraphicFramePr>
            <a:graphicFrameLocks noGrp="1"/>
          </p:cNvGraphicFramePr>
          <p:nvPr>
            <p:extLst>
              <p:ext uri="{D42A27DB-BD31-4B8C-83A1-F6EECF244321}">
                <p14:modId xmlns:p14="http://schemas.microsoft.com/office/powerpoint/2010/main" val="1132082078"/>
              </p:ext>
            </p:extLst>
          </p:nvPr>
        </p:nvGraphicFramePr>
        <p:xfrm>
          <a:off x="9276284" y="1714500"/>
          <a:ext cx="8706915" cy="6858000"/>
        </p:xfrm>
        <a:graphic>
          <a:graphicData uri="http://schemas.openxmlformats.org/drawingml/2006/table">
            <a:tbl>
              <a:tblPr/>
              <a:tblGrid>
                <a:gridCol w="2462562">
                  <a:extLst>
                    <a:ext uri="{9D8B030D-6E8A-4147-A177-3AD203B41FA5}">
                      <a16:colId xmlns:a16="http://schemas.microsoft.com/office/drawing/2014/main" val="20000"/>
                    </a:ext>
                  </a:extLst>
                </a:gridCol>
                <a:gridCol w="6244353">
                  <a:extLst>
                    <a:ext uri="{9D8B030D-6E8A-4147-A177-3AD203B41FA5}">
                      <a16:colId xmlns:a16="http://schemas.microsoft.com/office/drawing/2014/main" val="20001"/>
                    </a:ext>
                  </a:extLst>
                </a:gridCol>
              </a:tblGrid>
              <a:tr h="1714500">
                <a:tc>
                  <a:txBody>
                    <a:bodyPr/>
                    <a:lstStyle/>
                    <a:p>
                      <a:pPr algn="l">
                        <a:lnSpc>
                          <a:spcPts val="2799"/>
                        </a:lnSpc>
                        <a:defRPr/>
                      </a:pPr>
                      <a:r>
                        <a:rPr lang="vi-VN" sz="2500" b="1">
                          <a:solidFill>
                            <a:srgbClr val="000000"/>
                          </a:solidFill>
                          <a:latin typeface="+mn-lt"/>
                          <a:ea typeface="Garet Bold"/>
                          <a:cs typeface="Garet Bold"/>
                          <a:sym typeface="Garet Bold"/>
                        </a:rPr>
                        <a:t>Chương 1</a:t>
                      </a:r>
                      <a:endParaRPr lang="en-US" sz="2500">
                        <a:latin typeface="+mn-lt"/>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vi-VN" sz="2500" b="1">
                          <a:solidFill>
                            <a:srgbClr val="000000"/>
                          </a:solidFill>
                          <a:sym typeface="Garet Bold"/>
                        </a:rPr>
                        <a:t>Giới thiệu đề tài</a:t>
                      </a:r>
                      <a:endParaRPr lang="en-US" sz="25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0">
                <a:tc>
                  <a:txBody>
                    <a:bodyPr/>
                    <a:lstStyle/>
                    <a:p>
                      <a:pPr algn="l">
                        <a:lnSpc>
                          <a:spcPts val="2799"/>
                        </a:lnSpc>
                        <a:defRPr/>
                      </a:pPr>
                      <a:r>
                        <a:rPr lang="vi-VN" sz="2500" b="1">
                          <a:solidFill>
                            <a:srgbClr val="000000"/>
                          </a:solidFill>
                          <a:latin typeface="+mn-lt"/>
                          <a:sym typeface="Garet Bold"/>
                        </a:rPr>
                        <a:t>Chương 2</a:t>
                      </a:r>
                      <a:endParaRPr lang="en-US" sz="2500">
                        <a:latin typeface="+mn-lt"/>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vi-VN" sz="2500" b="1">
                          <a:solidFill>
                            <a:srgbClr val="000000"/>
                          </a:solidFill>
                          <a:latin typeface="+mn-lt"/>
                          <a:ea typeface="Garet Bold"/>
                          <a:cs typeface="Garet Bold"/>
                          <a:sym typeface="Garet Bold"/>
                        </a:rPr>
                        <a:t>Dữ liệu và phương pháp đề xuất</a:t>
                      </a:r>
                      <a:endParaRPr lang="en-US" sz="2500">
                        <a:latin typeface="+mn-lt"/>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14500">
                <a:tc>
                  <a:txBody>
                    <a:bodyPr/>
                    <a:lstStyle/>
                    <a:p>
                      <a:pPr algn="l">
                        <a:lnSpc>
                          <a:spcPts val="2799"/>
                        </a:lnSpc>
                        <a:defRPr/>
                      </a:pPr>
                      <a:r>
                        <a:rPr lang="vi-VN" sz="2500" b="1">
                          <a:solidFill>
                            <a:srgbClr val="000000"/>
                          </a:solidFill>
                          <a:latin typeface="+mn-lt"/>
                          <a:sym typeface="Garet Bold"/>
                        </a:rPr>
                        <a:t>Chương 3</a:t>
                      </a:r>
                      <a:endParaRPr lang="en-US" sz="2500">
                        <a:latin typeface="+mn-lt"/>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vi-VN" sz="2500" b="1">
                          <a:solidFill>
                            <a:srgbClr val="000000"/>
                          </a:solidFill>
                          <a:latin typeface="+mn-lt"/>
                          <a:ea typeface="Garet Bold"/>
                          <a:cs typeface="Garet Bold"/>
                          <a:sym typeface="Garet Bold"/>
                        </a:rPr>
                        <a:t>Thực nghiệm, kết quả và thảo luận</a:t>
                      </a:r>
                      <a:endParaRPr lang="en-US" sz="2500">
                        <a:latin typeface="+mn-lt"/>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14500">
                <a:tc>
                  <a:txBody>
                    <a:bodyPr/>
                    <a:lstStyle/>
                    <a:p>
                      <a:pPr algn="l">
                        <a:lnSpc>
                          <a:spcPts val="2799"/>
                        </a:lnSpc>
                        <a:defRPr/>
                      </a:pPr>
                      <a:r>
                        <a:rPr lang="vi-VN" sz="2500" b="1">
                          <a:solidFill>
                            <a:srgbClr val="000000"/>
                          </a:solidFill>
                          <a:latin typeface="+mn-lt"/>
                          <a:sym typeface="Garet Bold"/>
                        </a:rPr>
                        <a:t>Chương 4</a:t>
                      </a:r>
                      <a:endParaRPr lang="en-US" sz="2500">
                        <a:latin typeface="+mn-lt"/>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vi-VN" sz="2500" b="1">
                          <a:solidFill>
                            <a:srgbClr val="000000"/>
                          </a:solidFill>
                          <a:sym typeface="Garet Bold"/>
                        </a:rPr>
                        <a:t>Kết luận và trả lời câu hỏi nghiên cứu</a:t>
                      </a:r>
                      <a:endParaRPr lang="en-US" sz="25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Freeform 4"/>
          <p:cNvSpPr/>
          <p:nvPr/>
        </p:nvSpPr>
        <p:spPr>
          <a:xfrm>
            <a:off x="-6858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1604641" y="2439692"/>
            <a:ext cx="6531462" cy="748731"/>
          </a:xfrm>
          <a:prstGeom prst="rect">
            <a:avLst/>
          </a:prstGeom>
        </p:spPr>
        <p:txBody>
          <a:bodyPr lIns="0" tIns="0" rIns="0" bIns="0" rtlCol="0" anchor="t">
            <a:spAutoFit/>
          </a:bodyPr>
          <a:lstStyle/>
          <a:p>
            <a:pPr marL="0" lvl="0" indent="0" algn="just">
              <a:lnSpc>
                <a:spcPts val="5808"/>
              </a:lnSpc>
              <a:spcBef>
                <a:spcPct val="0"/>
              </a:spcBef>
            </a:pPr>
            <a:r>
              <a:rPr lang="vi-VN" sz="6000" b="1" spc="-458">
                <a:solidFill>
                  <a:srgbClr val="FFFFFF"/>
                </a:solidFill>
                <a:ea typeface="Archivo Black"/>
                <a:cs typeface="Archivo Black"/>
                <a:sym typeface="Archivo Black"/>
              </a:rPr>
              <a:t>Nội dung trình bày</a:t>
            </a:r>
            <a:endParaRPr lang="en-US" sz="6000" b="1" spc="-458">
              <a:solidFill>
                <a:srgbClr val="FFFFFF"/>
              </a:solidFill>
              <a:ea typeface="Archivo Black"/>
              <a:cs typeface="Archivo Black"/>
              <a:sym typeface="Archiv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468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16" name="Freeform 8">
            <a:extLst>
              <a:ext uri="{FF2B5EF4-FFF2-40B4-BE49-F238E27FC236}">
                <a16:creationId xmlns:a16="http://schemas.microsoft.com/office/drawing/2014/main" id="{EB624581-1266-5B4D-9E89-AAD3790B4863}"/>
              </a:ext>
            </a:extLst>
          </p:cNvPr>
          <p:cNvSpPr/>
          <p:nvPr/>
        </p:nvSpPr>
        <p:spPr>
          <a:xfrm>
            <a:off x="14173200" y="8648700"/>
            <a:ext cx="4145280" cy="1649882"/>
          </a:xfrm>
          <a:custGeom>
            <a:avLst/>
            <a:gdLst/>
            <a:ahLst/>
            <a:cxnLst/>
            <a:rect l="l" t="t" r="r" b="b"/>
            <a:pathLst>
              <a:path w="2611028" h="1020674">
                <a:moveTo>
                  <a:pt x="0" y="0"/>
                </a:moveTo>
                <a:lnTo>
                  <a:pt x="2611028" y="0"/>
                </a:lnTo>
                <a:lnTo>
                  <a:pt x="2611028" y="1020675"/>
                </a:lnTo>
                <a:lnTo>
                  <a:pt x="0" y="10206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1" name="Group 10">
            <a:extLst>
              <a:ext uri="{FF2B5EF4-FFF2-40B4-BE49-F238E27FC236}">
                <a16:creationId xmlns:a16="http://schemas.microsoft.com/office/drawing/2014/main" id="{58BEF263-F610-8BF1-8883-181433A5D296}"/>
              </a:ext>
            </a:extLst>
          </p:cNvPr>
          <p:cNvGrpSpPr/>
          <p:nvPr/>
        </p:nvGrpSpPr>
        <p:grpSpPr>
          <a:xfrm>
            <a:off x="609600" y="2171700"/>
            <a:ext cx="17145000" cy="2514600"/>
            <a:chOff x="609600" y="2180544"/>
            <a:chExt cx="17145000" cy="2514600"/>
          </a:xfrm>
        </p:grpSpPr>
        <p:sp>
          <p:nvSpPr>
            <p:cNvPr id="10" name="TextBox 10"/>
            <p:cNvSpPr txBox="1"/>
            <p:nvPr/>
          </p:nvSpPr>
          <p:spPr>
            <a:xfrm>
              <a:off x="609600" y="2180544"/>
              <a:ext cx="4495800" cy="689291"/>
            </a:xfrm>
            <a:prstGeom prst="rect">
              <a:avLst/>
            </a:prstGeom>
          </p:spPr>
          <p:txBody>
            <a:bodyPr wrap="square" lIns="0" tIns="0" rIns="0" bIns="0" rtlCol="0" anchor="t">
              <a:spAutoFit/>
            </a:bodyPr>
            <a:lstStyle/>
            <a:p>
              <a:pPr marL="0" lvl="0" indent="0" algn="r">
                <a:lnSpc>
                  <a:spcPts val="5808"/>
                </a:lnSpc>
                <a:spcBef>
                  <a:spcPct val="0"/>
                </a:spcBef>
              </a:pPr>
              <a:r>
                <a:rPr lang="vi-VN" sz="4000" b="1" spc="100">
                  <a:solidFill>
                    <a:srgbClr val="000000"/>
                  </a:solidFill>
                  <a:ea typeface="Archivo Black"/>
                  <a:cs typeface="Archivo Black"/>
                  <a:sym typeface="Archivo Black"/>
                </a:rPr>
                <a:t>Lí do chọn đề tài</a:t>
              </a:r>
              <a:endParaRPr lang="en-US" sz="4000" b="1" spc="100">
                <a:solidFill>
                  <a:srgbClr val="000000"/>
                </a:solidFill>
                <a:ea typeface="Archivo Black"/>
                <a:cs typeface="Archivo Black"/>
                <a:sym typeface="Archivo Black"/>
              </a:endParaRPr>
            </a:p>
          </p:txBody>
        </p:sp>
        <p:sp>
          <p:nvSpPr>
            <p:cNvPr id="8" name="TextBox 7">
              <a:extLst>
                <a:ext uri="{FF2B5EF4-FFF2-40B4-BE49-F238E27FC236}">
                  <a16:creationId xmlns:a16="http://schemas.microsoft.com/office/drawing/2014/main" id="{370964BE-CDBF-AB55-4C93-575914F9EFD7}"/>
                </a:ext>
              </a:extLst>
            </p:cNvPr>
            <p:cNvSpPr txBox="1"/>
            <p:nvPr/>
          </p:nvSpPr>
          <p:spPr>
            <a:xfrm>
              <a:off x="762000" y="2933700"/>
              <a:ext cx="16992600" cy="176144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500" b="1"/>
                <a:t>Thực trạng: </a:t>
              </a:r>
              <a:r>
                <a:rPr lang="vi-VN" sz="2500"/>
                <a:t>Xu hướng tuyển dụng trực tuyến bùng nổ nhưng đi kèm rủi ro về tin giả mạo gia tăng.</a:t>
              </a:r>
            </a:p>
            <a:p>
              <a:pPr marL="342900" indent="-342900">
                <a:lnSpc>
                  <a:spcPct val="150000"/>
                </a:lnSpc>
                <a:buFont typeface="Arial" panose="020B0604020202020204" pitchFamily="34" charset="0"/>
                <a:buChar char="•"/>
              </a:pPr>
              <a:r>
                <a:rPr lang="vi-VN" sz="2500" b="1"/>
                <a:t>Hệ lụy: </a:t>
              </a:r>
              <a:r>
                <a:rPr lang="vi-VN" sz="2500"/>
                <a:t>Gây thiệt hại tài chính, lộ thông tin cá nhân và giảm uy tín của doanh nghiệp chân chính.</a:t>
              </a:r>
            </a:p>
            <a:p>
              <a:pPr marL="342900" indent="-342900">
                <a:lnSpc>
                  <a:spcPct val="150000"/>
                </a:lnSpc>
                <a:buFont typeface="Arial" panose="020B0604020202020204" pitchFamily="34" charset="0"/>
                <a:buChar char="•"/>
              </a:pPr>
              <a:r>
                <a:rPr lang="vi-VN" sz="2500" b="1"/>
                <a:t>Giải pháp: </a:t>
              </a:r>
              <a:r>
                <a:rPr lang="vi-VN" sz="2500"/>
                <a:t>Xây dựng hệ thống tự động phát hiện/phân loại tin tuyển dụng thật - giả là nhu cầu cấp thiết.</a:t>
              </a:r>
              <a:endParaRPr lang="en-US" sz="2500"/>
            </a:p>
          </p:txBody>
        </p:sp>
      </p:grpSp>
      <p:sp>
        <p:nvSpPr>
          <p:cNvPr id="12" name="AutoShape 3">
            <a:extLst>
              <a:ext uri="{FF2B5EF4-FFF2-40B4-BE49-F238E27FC236}">
                <a16:creationId xmlns:a16="http://schemas.microsoft.com/office/drawing/2014/main" id="{B5B8A8F2-AE6E-50CF-F6C9-181E715F1118}"/>
              </a:ext>
            </a:extLst>
          </p:cNvPr>
          <p:cNvSpPr/>
          <p:nvPr/>
        </p:nvSpPr>
        <p:spPr>
          <a:xfrm flipV="1">
            <a:off x="609600" y="5252327"/>
            <a:ext cx="9372600" cy="43573"/>
          </a:xfrm>
          <a:prstGeom prst="line">
            <a:avLst/>
          </a:prstGeom>
          <a:ln w="76200" cap="flat">
            <a:solidFill>
              <a:srgbClr val="000000"/>
            </a:solidFill>
            <a:prstDash val="solid"/>
            <a:headEnd type="none" w="sm" len="sm"/>
            <a:tailEnd type="none" w="sm" len="sm"/>
          </a:ln>
        </p:spPr>
        <p:txBody>
          <a:bodyPr/>
          <a:lstStyle/>
          <a:p>
            <a:endParaRPr lang="en-US"/>
          </a:p>
        </p:txBody>
      </p:sp>
      <p:sp>
        <p:nvSpPr>
          <p:cNvPr id="14" name="TextBox 13">
            <a:extLst>
              <a:ext uri="{FF2B5EF4-FFF2-40B4-BE49-F238E27FC236}">
                <a16:creationId xmlns:a16="http://schemas.microsoft.com/office/drawing/2014/main" id="{47A6D625-D624-7E68-F2F3-DCCCF8BD760E}"/>
              </a:ext>
            </a:extLst>
          </p:cNvPr>
          <p:cNvSpPr txBox="1"/>
          <p:nvPr/>
        </p:nvSpPr>
        <p:spPr>
          <a:xfrm>
            <a:off x="685800" y="6362700"/>
            <a:ext cx="13335000" cy="32547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500" b="1"/>
              <a:t>Về mặt xã hội:</a:t>
            </a:r>
            <a:r>
              <a:rPr lang="vi-VN" sz="2500"/>
              <a:t> Bảo vệ người tìm việc, xây dựng môi trường tuyển dụng minh bạch.</a:t>
            </a:r>
          </a:p>
          <a:p>
            <a:pPr marL="342900" indent="-342900">
              <a:lnSpc>
                <a:spcPct val="150000"/>
              </a:lnSpc>
              <a:buFont typeface="Arial" panose="020B0604020202020204" pitchFamily="34" charset="0"/>
              <a:buChar char="•"/>
            </a:pPr>
            <a:r>
              <a:rPr lang="vi-VN" sz="2500" b="1"/>
              <a:t>Về mặt học thuật:</a:t>
            </a:r>
            <a:r>
              <a:rPr lang="vi-VN" sz="2500"/>
              <a:t> Ứng dụng kỹ thuật Khai phá dữ liệu (NLP, Machine Learning, Deep Learning) vào bài toán phân loại nhị phân thực tế.</a:t>
            </a:r>
          </a:p>
          <a:p>
            <a:pPr marL="342900" indent="-342900">
              <a:lnSpc>
                <a:spcPct val="150000"/>
              </a:lnSpc>
              <a:buFont typeface="Arial" panose="020B0604020202020204" pitchFamily="34" charset="0"/>
              <a:buChar char="•"/>
            </a:pPr>
            <a:r>
              <a:rPr lang="vi-VN" sz="2500" b="1"/>
              <a:t>Sản phẩm:</a:t>
            </a:r>
            <a:r>
              <a:rPr lang="vi-VN" sz="2500"/>
              <a:t> Phát triển mô hình dự đoán có độ chính xác cao dựa trên bộ dữ liệu uy tín (EMSCAD).</a:t>
            </a:r>
          </a:p>
          <a:p>
            <a:endParaRPr lang="en-US"/>
          </a:p>
        </p:txBody>
      </p:sp>
      <p:sp>
        <p:nvSpPr>
          <p:cNvPr id="15" name="TextBox 14">
            <a:extLst>
              <a:ext uri="{FF2B5EF4-FFF2-40B4-BE49-F238E27FC236}">
                <a16:creationId xmlns:a16="http://schemas.microsoft.com/office/drawing/2014/main" id="{109AE563-761F-3644-4809-A4E028FC66ED}"/>
              </a:ext>
            </a:extLst>
          </p:cNvPr>
          <p:cNvSpPr txBox="1"/>
          <p:nvPr/>
        </p:nvSpPr>
        <p:spPr>
          <a:xfrm>
            <a:off x="685800" y="5561241"/>
            <a:ext cx="8077200" cy="707886"/>
          </a:xfrm>
          <a:prstGeom prst="rect">
            <a:avLst/>
          </a:prstGeom>
          <a:noFill/>
        </p:spPr>
        <p:txBody>
          <a:bodyPr wrap="square" rtlCol="0">
            <a:spAutoFit/>
          </a:bodyPr>
          <a:lstStyle/>
          <a:p>
            <a:r>
              <a:rPr lang="vi-VN" sz="4000" b="1"/>
              <a:t>Mục tiêu đề tài</a:t>
            </a:r>
            <a:endParaRPr lang="en-US" sz="4000" b="1"/>
          </a:p>
        </p:txBody>
      </p:sp>
      <p:sp>
        <p:nvSpPr>
          <p:cNvPr id="20" name="TextBox 19">
            <a:extLst>
              <a:ext uri="{FF2B5EF4-FFF2-40B4-BE49-F238E27FC236}">
                <a16:creationId xmlns:a16="http://schemas.microsoft.com/office/drawing/2014/main" id="{6FBA56ED-C009-4B62-B3A5-2E26EB8413F5}"/>
              </a:ext>
            </a:extLst>
          </p:cNvPr>
          <p:cNvSpPr txBox="1"/>
          <p:nvPr/>
        </p:nvSpPr>
        <p:spPr>
          <a:xfrm>
            <a:off x="399197" y="563984"/>
            <a:ext cx="16992600" cy="1292662"/>
          </a:xfrm>
          <a:prstGeom prst="rect">
            <a:avLst/>
          </a:prstGeom>
          <a:noFill/>
        </p:spPr>
        <p:txBody>
          <a:bodyPr wrap="square" rtlCol="0">
            <a:spAutoFit/>
          </a:bodyPr>
          <a:lstStyle/>
          <a:p>
            <a:r>
              <a:rPr lang="vi-VN" sz="6000" b="1" spc="100">
                <a:solidFill>
                  <a:srgbClr val="000000"/>
                </a:solidFill>
                <a:ea typeface="Archivo Black"/>
                <a:cs typeface="Archivo Black"/>
                <a:sym typeface="Archivo Black"/>
              </a:rPr>
              <a:t>Chương 1: Giới thiệu đề tài</a:t>
            </a:r>
            <a:endParaRPr lang="en-US" sz="6000" b="1" spc="100">
              <a:solidFill>
                <a:srgbClr val="000000"/>
              </a:solidFill>
              <a:ea typeface="Archivo Black"/>
              <a:cs typeface="Archivo Black"/>
              <a:sym typeface="Archivo Black"/>
            </a:endParaRPr>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51FA7-4BAC-0DCD-41B9-150C2E82F7C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628AC1D-1F62-A644-F79F-E76E639A442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AutoShape 3">
            <a:extLst>
              <a:ext uri="{FF2B5EF4-FFF2-40B4-BE49-F238E27FC236}">
                <a16:creationId xmlns:a16="http://schemas.microsoft.com/office/drawing/2014/main" id="{7112D9DA-3E26-0C85-CE7D-B57E23F35760}"/>
              </a:ext>
            </a:extLst>
          </p:cNvPr>
          <p:cNvSpPr/>
          <p:nvPr/>
        </p:nvSpPr>
        <p:spPr>
          <a:xfrm>
            <a:off x="-440748" y="9194921"/>
            <a:ext cx="18873133" cy="0"/>
          </a:xfrm>
          <a:prstGeom prst="line">
            <a:avLst/>
          </a:prstGeom>
          <a:ln w="9525" cap="rnd">
            <a:solidFill>
              <a:srgbClr val="000000"/>
            </a:soli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26C36DF8-F822-91C5-3265-FF62D0454009}"/>
              </a:ext>
            </a:extLst>
          </p:cNvPr>
          <p:cNvSpPr/>
          <p:nvPr/>
        </p:nvSpPr>
        <p:spPr>
          <a:xfrm>
            <a:off x="-440748" y="9575921"/>
            <a:ext cx="18873133" cy="0"/>
          </a:xfrm>
          <a:prstGeom prst="line">
            <a:avLst/>
          </a:prstGeom>
          <a:ln w="9525" cap="rnd">
            <a:solidFill>
              <a:srgbClr val="000000"/>
            </a:solidFill>
            <a:prstDash val="solid"/>
            <a:headEnd type="none" w="sm" len="sm"/>
            <a:tailEnd type="none" w="sm" len="sm"/>
          </a:ln>
        </p:spPr>
        <p:txBody>
          <a:bodyPr/>
          <a:lstStyle/>
          <a:p>
            <a:endParaRPr lang="en-US"/>
          </a:p>
        </p:txBody>
      </p:sp>
      <p:sp>
        <p:nvSpPr>
          <p:cNvPr id="8" name="Freeform 8">
            <a:extLst>
              <a:ext uri="{FF2B5EF4-FFF2-40B4-BE49-F238E27FC236}">
                <a16:creationId xmlns:a16="http://schemas.microsoft.com/office/drawing/2014/main" id="{343EEA00-284E-0A27-BE24-DA88E6C9BDA5}"/>
              </a:ext>
            </a:extLst>
          </p:cNvPr>
          <p:cNvSpPr/>
          <p:nvPr/>
        </p:nvSpPr>
        <p:spPr>
          <a:xfrm rot="-10800000">
            <a:off x="15524572" y="-1028699"/>
            <a:ext cx="2611028" cy="4114800"/>
          </a:xfrm>
          <a:custGeom>
            <a:avLst/>
            <a:gdLst/>
            <a:ahLst/>
            <a:cxnLst/>
            <a:rect l="l" t="t" r="r" b="b"/>
            <a:pathLst>
              <a:path w="2611028" h="4114800">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9">
            <a:extLst>
              <a:ext uri="{FF2B5EF4-FFF2-40B4-BE49-F238E27FC236}">
                <a16:creationId xmlns:a16="http://schemas.microsoft.com/office/drawing/2014/main" id="{17E0378C-C936-AB79-1E1F-AE91456392E0}"/>
              </a:ext>
            </a:extLst>
          </p:cNvPr>
          <p:cNvSpPr txBox="1"/>
          <p:nvPr/>
        </p:nvSpPr>
        <p:spPr>
          <a:xfrm>
            <a:off x="940991" y="2191111"/>
            <a:ext cx="7279037" cy="689291"/>
          </a:xfrm>
          <a:prstGeom prst="rect">
            <a:avLst/>
          </a:prstGeom>
        </p:spPr>
        <p:txBody>
          <a:bodyPr lIns="0" tIns="0" rIns="0" bIns="0" rtlCol="0" anchor="t">
            <a:spAutoFit/>
          </a:bodyPr>
          <a:lstStyle/>
          <a:p>
            <a:pPr marL="0" lvl="0" indent="0" algn="l">
              <a:lnSpc>
                <a:spcPts val="5808"/>
              </a:lnSpc>
              <a:spcBef>
                <a:spcPct val="0"/>
              </a:spcBef>
            </a:pPr>
            <a:r>
              <a:rPr lang="vi-VN" sz="4000" b="1" spc="100">
                <a:solidFill>
                  <a:srgbClr val="000000"/>
                </a:solidFill>
                <a:ea typeface="Archivo Black"/>
                <a:cs typeface="Archivo Black"/>
                <a:sym typeface="Archivo Black"/>
              </a:rPr>
              <a:t>Câu hỏi nghiên cứu</a:t>
            </a:r>
            <a:endParaRPr lang="en-US" sz="4000" b="1" spc="100">
              <a:solidFill>
                <a:srgbClr val="000000"/>
              </a:solidFill>
              <a:ea typeface="Archivo Black"/>
              <a:cs typeface="Archivo Black"/>
              <a:sym typeface="Archivo Black"/>
            </a:endParaRPr>
          </a:p>
        </p:txBody>
      </p:sp>
      <p:sp>
        <p:nvSpPr>
          <p:cNvPr id="11" name="TextBox 11">
            <a:extLst>
              <a:ext uri="{FF2B5EF4-FFF2-40B4-BE49-F238E27FC236}">
                <a16:creationId xmlns:a16="http://schemas.microsoft.com/office/drawing/2014/main" id="{5AC5B0EB-E462-CEA7-2602-5A74A0050CD0}"/>
              </a:ext>
            </a:extLst>
          </p:cNvPr>
          <p:cNvSpPr txBox="1"/>
          <p:nvPr/>
        </p:nvSpPr>
        <p:spPr>
          <a:xfrm>
            <a:off x="906385" y="3064397"/>
            <a:ext cx="17238314" cy="4976362"/>
          </a:xfrm>
          <a:prstGeom prst="rect">
            <a:avLst/>
          </a:prstGeom>
        </p:spPr>
        <p:txBody>
          <a:bodyPr wrap="square" lIns="0" tIns="0" rIns="0" bIns="0" rtlCol="0" anchor="t">
            <a:spAutoFit/>
          </a:bodyPr>
          <a:lstStyle/>
          <a:p>
            <a:pPr marL="457200" lvl="0" indent="-457200">
              <a:lnSpc>
                <a:spcPct val="150000"/>
              </a:lnSpc>
              <a:buFont typeface="+mj-lt"/>
              <a:buAutoNum type="arabicPeriod"/>
            </a:pPr>
            <a:r>
              <a:rPr lang="en-US" sz="2500">
                <a:latin typeface="Arial" panose="020B0604020202020204" pitchFamily="34" charset="0"/>
                <a:cs typeface="Arial" panose="020B0604020202020204" pitchFamily="34" charset="0"/>
              </a:rPr>
              <a:t>Thuật toán máy học nào cho hiệu suất cao nhất trong việc phân loại tin tuyển </a:t>
            </a:r>
            <a:r>
              <a:rPr lang="vi-VN" sz="2500">
                <a:latin typeface="Arial" panose="020B0604020202020204" pitchFamily="34" charset="0"/>
                <a:cs typeface="Arial" panose="020B0604020202020204" pitchFamily="34" charset="0"/>
              </a:rPr>
              <a:t>dụng?</a:t>
            </a:r>
            <a:endParaRPr lang="en-US" sz="2500">
              <a:latin typeface="Arial" panose="020B0604020202020204" pitchFamily="34" charset="0"/>
              <a:cs typeface="Arial" panose="020B0604020202020204" pitchFamily="34" charset="0"/>
            </a:endParaRPr>
          </a:p>
          <a:p>
            <a:pPr marL="457200" lvl="0" indent="-457200">
              <a:lnSpc>
                <a:spcPct val="150000"/>
              </a:lnSpc>
              <a:buFont typeface="+mj-lt"/>
              <a:buAutoNum type="arabicPeriod"/>
            </a:pPr>
            <a:r>
              <a:rPr lang="en-US" sz="2500">
                <a:latin typeface="Arial" panose="020B0604020202020204" pitchFamily="34" charset="0"/>
                <a:cs typeface="Arial" panose="020B0604020202020204" pitchFamily="34" charset="0"/>
              </a:rPr>
              <a:t>Làm thế nào để cân bằng giữa chỉ số precision và recall -&gt; dùng f1 và PR-</a:t>
            </a:r>
            <a:r>
              <a:rPr lang="vi-VN" sz="2500">
                <a:latin typeface="Arial" panose="020B0604020202020204" pitchFamily="34" charset="0"/>
                <a:cs typeface="Arial" panose="020B0604020202020204" pitchFamily="34" charset="0"/>
              </a:rPr>
              <a:t>AUC?</a:t>
            </a:r>
            <a:endParaRPr lang="en-US" sz="2500">
              <a:latin typeface="Arial" panose="020B0604020202020204" pitchFamily="34" charset="0"/>
              <a:cs typeface="Arial" panose="020B0604020202020204" pitchFamily="34" charset="0"/>
            </a:endParaRPr>
          </a:p>
          <a:p>
            <a:pPr marL="457200" lvl="0" indent="-457200">
              <a:lnSpc>
                <a:spcPct val="150000"/>
              </a:lnSpc>
              <a:buFont typeface="+mj-lt"/>
              <a:buAutoNum type="arabicPeriod"/>
            </a:pPr>
            <a:r>
              <a:rPr lang="en-US" sz="2500">
                <a:latin typeface="Arial" panose="020B0604020202020204" pitchFamily="34" charset="0"/>
                <a:cs typeface="Arial" panose="020B0604020202020204" pitchFamily="34" charset="0"/>
              </a:rPr>
              <a:t>Việc áp dụng các kỹ thuật tái lấy mẫu như smote thì liệu có ảnh hưởng như thế nào đến khả năng phát hiện tin giả của mô </a:t>
            </a:r>
            <a:r>
              <a:rPr lang="vi-VN" sz="2500">
                <a:latin typeface="Arial" panose="020B0604020202020204" pitchFamily="34" charset="0"/>
                <a:cs typeface="Arial" panose="020B0604020202020204" pitchFamily="34" charset="0"/>
              </a:rPr>
              <a:t>hình?</a:t>
            </a:r>
            <a:endParaRPr lang="en-US" sz="2500">
              <a:latin typeface="Arial" panose="020B0604020202020204" pitchFamily="34" charset="0"/>
              <a:cs typeface="Arial" panose="020B0604020202020204" pitchFamily="34" charset="0"/>
            </a:endParaRPr>
          </a:p>
          <a:p>
            <a:pPr marL="457200" lvl="0" indent="-457200">
              <a:lnSpc>
                <a:spcPct val="150000"/>
              </a:lnSpc>
              <a:buFont typeface="+mj-lt"/>
              <a:buAutoNum type="arabicPeriod"/>
            </a:pPr>
            <a:r>
              <a:rPr lang="en-US" sz="2500">
                <a:latin typeface="Arial" panose="020B0604020202020204" pitchFamily="34" charset="0"/>
                <a:cs typeface="Arial" panose="020B0604020202020204" pitchFamily="34" charset="0"/>
              </a:rPr>
              <a:t>Những đặc trưng chủ yếu về văn bản hoặc từ khóa (keywords) nào mang tính phân biệt cao nhất giúp nhận diện một tin tuyển dụng giả </a:t>
            </a:r>
            <a:r>
              <a:rPr lang="vi-VN" sz="2500">
                <a:latin typeface="Arial" panose="020B0604020202020204" pitchFamily="34" charset="0"/>
                <a:cs typeface="Arial" panose="020B0604020202020204" pitchFamily="34" charset="0"/>
              </a:rPr>
              <a:t>mạo?</a:t>
            </a:r>
            <a:endParaRPr lang="en-US" sz="2500">
              <a:latin typeface="Arial" panose="020B0604020202020204" pitchFamily="34" charset="0"/>
              <a:cs typeface="Arial" panose="020B0604020202020204" pitchFamily="34" charset="0"/>
            </a:endParaRPr>
          </a:p>
          <a:p>
            <a:pPr marL="457200" lvl="0" indent="-457200">
              <a:lnSpc>
                <a:spcPct val="150000"/>
              </a:lnSpc>
              <a:buFont typeface="+mj-lt"/>
              <a:buAutoNum type="arabicPeriod"/>
            </a:pPr>
            <a:r>
              <a:rPr lang="en-US" sz="2500">
                <a:latin typeface="Arial" panose="020B0604020202020204" pitchFamily="34" charset="0"/>
                <a:cs typeface="Arial" panose="020B0604020202020204" pitchFamily="34" charset="0"/>
              </a:rPr>
              <a:t>Phương pháp trích xuất đặc trung nào (TF-IDF, Count Vectorized, Word Embeddings như Word2Vec/BERT) mang lại đầu vào tốt nhất cho mô hình phân loại trong ngữ cảnh </a:t>
            </a:r>
            <a:r>
              <a:rPr lang="vi-VN" sz="2500">
                <a:latin typeface="Arial" panose="020B0604020202020204" pitchFamily="34" charset="0"/>
                <a:cs typeface="Arial" panose="020B0604020202020204" pitchFamily="34" charset="0"/>
              </a:rPr>
              <a:t>này?</a:t>
            </a:r>
            <a:endParaRPr lang="en-US" sz="2500">
              <a:latin typeface="Arial" panose="020B0604020202020204" pitchFamily="34" charset="0"/>
              <a:cs typeface="Arial" panose="020B0604020202020204" pitchFamily="34" charset="0"/>
            </a:endParaRPr>
          </a:p>
          <a:p>
            <a:pPr algn="l">
              <a:lnSpc>
                <a:spcPts val="2939"/>
              </a:lnSpc>
              <a:spcBef>
                <a:spcPct val="0"/>
              </a:spcBef>
            </a:pPr>
            <a:endParaRPr lang="en-US" sz="2099">
              <a:solidFill>
                <a:srgbClr val="000000"/>
              </a:solidFill>
              <a:latin typeface="Garet"/>
              <a:ea typeface="Garet"/>
              <a:cs typeface="Garet"/>
              <a:sym typeface="Garet"/>
            </a:endParaRPr>
          </a:p>
        </p:txBody>
      </p:sp>
      <p:sp>
        <p:nvSpPr>
          <p:cNvPr id="18" name="TextBox 17">
            <a:extLst>
              <a:ext uri="{FF2B5EF4-FFF2-40B4-BE49-F238E27FC236}">
                <a16:creationId xmlns:a16="http://schemas.microsoft.com/office/drawing/2014/main" id="{C9B95876-52BE-2C59-4427-D6E224B4B294}"/>
              </a:ext>
            </a:extLst>
          </p:cNvPr>
          <p:cNvSpPr txBox="1"/>
          <p:nvPr/>
        </p:nvSpPr>
        <p:spPr>
          <a:xfrm>
            <a:off x="533400" y="470705"/>
            <a:ext cx="10972800" cy="1938992"/>
          </a:xfrm>
          <a:prstGeom prst="rect">
            <a:avLst/>
          </a:prstGeom>
          <a:noFill/>
        </p:spPr>
        <p:txBody>
          <a:bodyPr wrap="square" rtlCol="0">
            <a:spAutoFit/>
          </a:bodyPr>
          <a:lstStyle/>
          <a:p>
            <a:r>
              <a:rPr lang="vi-VN" sz="6000" b="1" spc="100">
                <a:solidFill>
                  <a:srgbClr val="000000"/>
                </a:solidFill>
                <a:ea typeface="Archivo Black"/>
                <a:cs typeface="Archivo Black"/>
                <a:sym typeface="Archivo Black"/>
              </a:rPr>
              <a:t>Chương 1: Giới thiệu đề tài</a:t>
            </a:r>
            <a:endParaRPr lang="en-US" sz="6000" b="1" spc="100">
              <a:solidFill>
                <a:srgbClr val="000000"/>
              </a:solidFill>
              <a:ea typeface="Archivo Black"/>
              <a:cs typeface="Archivo Black"/>
              <a:sym typeface="Archivo Black"/>
            </a:endParaRPr>
          </a:p>
          <a:p>
            <a:endParaRPr lang="en-US" sz="6000" spc="100"/>
          </a:p>
        </p:txBody>
      </p:sp>
    </p:spTree>
    <p:extLst>
      <p:ext uri="{BB962C8B-B14F-4D97-AF65-F5344CB8AC3E}">
        <p14:creationId xmlns:p14="http://schemas.microsoft.com/office/powerpoint/2010/main" val="2294729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1E53C-C2B0-73F9-BC11-9E57FA445B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5464CC4-33E0-9E45-B0E2-FA362CE997B6}"/>
              </a:ext>
            </a:extLst>
          </p:cNvPr>
          <p:cNvSpPr/>
          <p:nvPr/>
        </p:nvSpPr>
        <p:spPr>
          <a:xfrm>
            <a:off x="0" y="-3468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9" name="Freeform 9">
            <a:extLst>
              <a:ext uri="{FF2B5EF4-FFF2-40B4-BE49-F238E27FC236}">
                <a16:creationId xmlns:a16="http://schemas.microsoft.com/office/drawing/2014/main" id="{8B3C4E40-718F-AC18-2006-8C403A78E9E9}"/>
              </a:ext>
            </a:extLst>
          </p:cNvPr>
          <p:cNvSpPr/>
          <p:nvPr/>
        </p:nvSpPr>
        <p:spPr>
          <a:xfrm>
            <a:off x="14485123" y="-38100"/>
            <a:ext cx="3802877" cy="1486579"/>
          </a:xfrm>
          <a:custGeom>
            <a:avLst/>
            <a:gdLst/>
            <a:ahLst/>
            <a:cxnLst/>
            <a:rect l="l" t="t" r="r" b="b"/>
            <a:pathLst>
              <a:path w="3802877" h="1486579">
                <a:moveTo>
                  <a:pt x="0" y="0"/>
                </a:moveTo>
                <a:lnTo>
                  <a:pt x="3802877" y="0"/>
                </a:lnTo>
                <a:lnTo>
                  <a:pt x="3802877" y="1486579"/>
                </a:lnTo>
                <a:lnTo>
                  <a:pt x="0" y="14865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Freeform 8">
            <a:extLst>
              <a:ext uri="{FF2B5EF4-FFF2-40B4-BE49-F238E27FC236}">
                <a16:creationId xmlns:a16="http://schemas.microsoft.com/office/drawing/2014/main" id="{7441E5FF-FB01-EED4-8471-E4AA2C24EE3F}"/>
              </a:ext>
            </a:extLst>
          </p:cNvPr>
          <p:cNvSpPr/>
          <p:nvPr/>
        </p:nvSpPr>
        <p:spPr>
          <a:xfrm>
            <a:off x="0" y="8648700"/>
            <a:ext cx="4145280" cy="1649882"/>
          </a:xfrm>
          <a:custGeom>
            <a:avLst/>
            <a:gdLst/>
            <a:ahLst/>
            <a:cxnLst/>
            <a:rect l="l" t="t" r="r" b="b"/>
            <a:pathLst>
              <a:path w="2611028" h="1020674">
                <a:moveTo>
                  <a:pt x="0" y="0"/>
                </a:moveTo>
                <a:lnTo>
                  <a:pt x="2611028" y="0"/>
                </a:lnTo>
                <a:lnTo>
                  <a:pt x="2611028" y="1020675"/>
                </a:lnTo>
                <a:lnTo>
                  <a:pt x="0" y="10206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1" name="Group 10">
            <a:extLst>
              <a:ext uri="{FF2B5EF4-FFF2-40B4-BE49-F238E27FC236}">
                <a16:creationId xmlns:a16="http://schemas.microsoft.com/office/drawing/2014/main" id="{EB20650B-EB84-9757-934C-6DC1BEA0703C}"/>
              </a:ext>
            </a:extLst>
          </p:cNvPr>
          <p:cNvGrpSpPr/>
          <p:nvPr/>
        </p:nvGrpSpPr>
        <p:grpSpPr>
          <a:xfrm>
            <a:off x="1066800" y="3086100"/>
            <a:ext cx="16992600" cy="3810000"/>
            <a:chOff x="762000" y="2792060"/>
            <a:chExt cx="16992600" cy="3810000"/>
          </a:xfrm>
        </p:grpSpPr>
        <p:sp>
          <p:nvSpPr>
            <p:cNvPr id="10" name="TextBox 10">
              <a:extLst>
                <a:ext uri="{FF2B5EF4-FFF2-40B4-BE49-F238E27FC236}">
                  <a16:creationId xmlns:a16="http://schemas.microsoft.com/office/drawing/2014/main" id="{0A619E43-6293-3356-B445-C8D7584B735E}"/>
                </a:ext>
              </a:extLst>
            </p:cNvPr>
            <p:cNvSpPr txBox="1"/>
            <p:nvPr/>
          </p:nvSpPr>
          <p:spPr>
            <a:xfrm>
              <a:off x="762000" y="2792060"/>
              <a:ext cx="7772400" cy="689291"/>
            </a:xfrm>
            <a:prstGeom prst="rect">
              <a:avLst/>
            </a:prstGeom>
          </p:spPr>
          <p:txBody>
            <a:bodyPr wrap="square" lIns="0" tIns="0" rIns="0" bIns="0" rtlCol="0" anchor="t">
              <a:spAutoFit/>
            </a:bodyPr>
            <a:lstStyle/>
            <a:p>
              <a:pPr marL="0" lvl="0" indent="0" algn="r">
                <a:lnSpc>
                  <a:spcPts val="5808"/>
                </a:lnSpc>
                <a:spcBef>
                  <a:spcPct val="0"/>
                </a:spcBef>
              </a:pPr>
              <a:r>
                <a:rPr lang="vi-VN" sz="4000" b="1" spc="100">
                  <a:solidFill>
                    <a:srgbClr val="000000"/>
                  </a:solidFill>
                  <a:ea typeface="Archivo Black"/>
                  <a:cs typeface="Archivo Black"/>
                  <a:sym typeface="Archivo Black"/>
                </a:rPr>
                <a:t>Các phương pháp nghiên cứu</a:t>
              </a:r>
              <a:endParaRPr lang="en-US" sz="4000" b="1" spc="100">
                <a:solidFill>
                  <a:srgbClr val="000000"/>
                </a:solidFill>
                <a:ea typeface="Archivo Black"/>
                <a:cs typeface="Archivo Black"/>
                <a:sym typeface="Archivo Black"/>
              </a:endParaRPr>
            </a:p>
          </p:txBody>
        </p:sp>
        <p:sp>
          <p:nvSpPr>
            <p:cNvPr id="8" name="TextBox 7">
              <a:extLst>
                <a:ext uri="{FF2B5EF4-FFF2-40B4-BE49-F238E27FC236}">
                  <a16:creationId xmlns:a16="http://schemas.microsoft.com/office/drawing/2014/main" id="{663128F1-C8E4-CDD9-3AEB-911E2E62BE45}"/>
                </a:ext>
              </a:extLst>
            </p:cNvPr>
            <p:cNvSpPr txBox="1"/>
            <p:nvPr/>
          </p:nvSpPr>
          <p:spPr>
            <a:xfrm>
              <a:off x="762000" y="3683953"/>
              <a:ext cx="16992600" cy="2918107"/>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US" sz="2500">
                  <a:latin typeface="Arial" panose="020B0604020202020204" pitchFamily="34" charset="0"/>
                  <a:cs typeface="Arial" panose="020B0604020202020204" pitchFamily="34" charset="0"/>
                </a:rPr>
                <a:t>Dataset: EMSCAD (17,880 tin tuyển dụng) </a:t>
              </a:r>
            </a:p>
            <a:p>
              <a:pPr marL="285750" lvl="0" indent="-285750">
                <a:lnSpc>
                  <a:spcPct val="150000"/>
                </a:lnSpc>
                <a:buFont typeface="Arial" panose="020B0604020202020204" pitchFamily="34" charset="0"/>
                <a:buChar char="•"/>
              </a:pPr>
              <a:r>
                <a:rPr lang="en-US" sz="2500">
                  <a:latin typeface="Arial" panose="020B0604020202020204" pitchFamily="34" charset="0"/>
                  <a:cs typeface="Arial" panose="020B0604020202020204" pitchFamily="34" charset="0"/>
                </a:rPr>
                <a:t>Ngôn ngữ: Python </a:t>
              </a:r>
            </a:p>
            <a:p>
              <a:pPr marL="285750" lvl="0" indent="-285750">
                <a:lnSpc>
                  <a:spcPct val="150000"/>
                </a:lnSpc>
                <a:buFont typeface="Arial" panose="020B0604020202020204" pitchFamily="34" charset="0"/>
                <a:buChar char="•"/>
              </a:pPr>
              <a:r>
                <a:rPr lang="en-US" sz="2500">
                  <a:latin typeface="Arial" panose="020B0604020202020204" pitchFamily="34" charset="0"/>
                  <a:cs typeface="Arial" panose="020B0604020202020204" pitchFamily="34" charset="0"/>
                </a:rPr>
                <a:t>Thư viện: pandas, numpy, scikit-learn, matplotlib, seaborn </a:t>
              </a:r>
            </a:p>
            <a:p>
              <a:pPr marL="285750" lvl="0" indent="-285750">
                <a:lnSpc>
                  <a:spcPct val="150000"/>
                </a:lnSpc>
                <a:buFont typeface="Arial" panose="020B0604020202020204" pitchFamily="34" charset="0"/>
                <a:buChar char="•"/>
              </a:pPr>
              <a:r>
                <a:rPr lang="en-US" sz="2500">
                  <a:latin typeface="Arial" panose="020B0604020202020204" pitchFamily="34" charset="0"/>
                  <a:cs typeface="Arial" panose="020B0604020202020204" pitchFamily="34" charset="0"/>
                </a:rPr>
                <a:t>Các thuật toán: Logistic Regression, Random Forest, XGBoost, Naïve Bayes, UnderSampling</a:t>
              </a:r>
            </a:p>
            <a:p>
              <a:pPr marL="342900" indent="-342900">
                <a:lnSpc>
                  <a:spcPct val="150000"/>
                </a:lnSpc>
                <a:buFont typeface="Arial" panose="020B0604020202020204" pitchFamily="34" charset="0"/>
                <a:buChar char="•"/>
              </a:pPr>
              <a:endParaRPr lang="en-US" sz="2500"/>
            </a:p>
          </p:txBody>
        </p:sp>
      </p:grpSp>
      <p:sp>
        <p:nvSpPr>
          <p:cNvPr id="5" name="Freeform 6">
            <a:extLst>
              <a:ext uri="{FF2B5EF4-FFF2-40B4-BE49-F238E27FC236}">
                <a16:creationId xmlns:a16="http://schemas.microsoft.com/office/drawing/2014/main" id="{46794E61-DECC-6389-386D-5A040078AD2F}"/>
              </a:ext>
            </a:extLst>
          </p:cNvPr>
          <p:cNvSpPr/>
          <p:nvPr/>
        </p:nvSpPr>
        <p:spPr>
          <a:xfrm>
            <a:off x="15676972" y="6210300"/>
            <a:ext cx="2611028" cy="4114800"/>
          </a:xfrm>
          <a:custGeom>
            <a:avLst/>
            <a:gdLst/>
            <a:ahLst/>
            <a:cxnLst/>
            <a:rect l="l" t="t" r="r" b="b"/>
            <a:pathLst>
              <a:path w="2611028" h="4114800">
                <a:moveTo>
                  <a:pt x="0" y="0"/>
                </a:moveTo>
                <a:lnTo>
                  <a:pt x="2611028" y="0"/>
                </a:lnTo>
                <a:lnTo>
                  <a:pt x="261102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5">
            <a:extLst>
              <a:ext uri="{FF2B5EF4-FFF2-40B4-BE49-F238E27FC236}">
                <a16:creationId xmlns:a16="http://schemas.microsoft.com/office/drawing/2014/main" id="{2BC70B9C-E6E2-FAAA-AB8A-49A9D8868DA8}"/>
              </a:ext>
            </a:extLst>
          </p:cNvPr>
          <p:cNvSpPr txBox="1"/>
          <p:nvPr/>
        </p:nvSpPr>
        <p:spPr>
          <a:xfrm>
            <a:off x="609600" y="813811"/>
            <a:ext cx="13716000" cy="1938992"/>
          </a:xfrm>
          <a:prstGeom prst="rect">
            <a:avLst/>
          </a:prstGeom>
          <a:noFill/>
        </p:spPr>
        <p:txBody>
          <a:bodyPr wrap="square" rtlCol="0">
            <a:spAutoFit/>
          </a:bodyPr>
          <a:lstStyle/>
          <a:p>
            <a:r>
              <a:rPr lang="vi-VN" sz="6000" b="1" spc="100">
                <a:solidFill>
                  <a:srgbClr val="000000"/>
                </a:solidFill>
                <a:ea typeface="Archivo Black"/>
                <a:cs typeface="Archivo Black"/>
                <a:sym typeface="Archivo Black"/>
              </a:rPr>
              <a:t>Chương 1: Giới thiệu đề tài</a:t>
            </a:r>
            <a:endParaRPr lang="en-US" sz="6000" b="1" spc="100">
              <a:solidFill>
                <a:srgbClr val="000000"/>
              </a:solidFill>
              <a:ea typeface="Archivo Black"/>
              <a:cs typeface="Archivo Black"/>
              <a:sym typeface="Archivo Black"/>
            </a:endParaRPr>
          </a:p>
          <a:p>
            <a:endParaRPr lang="en-US" sz="6000" spc="100"/>
          </a:p>
        </p:txBody>
      </p:sp>
    </p:spTree>
    <p:extLst>
      <p:ext uri="{BB962C8B-B14F-4D97-AF65-F5344CB8AC3E}">
        <p14:creationId xmlns:p14="http://schemas.microsoft.com/office/powerpoint/2010/main" val="3141988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3D24E-11E5-8D6B-B726-BB2AB7A1898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743BC2-E350-37CB-8A20-64055540F10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EC6DE0D7-2819-0C49-26FC-F3F01AC4BEDC}"/>
              </a:ext>
            </a:extLst>
          </p:cNvPr>
          <p:cNvSpPr txBox="1"/>
          <p:nvPr/>
        </p:nvSpPr>
        <p:spPr>
          <a:xfrm>
            <a:off x="990741" y="590943"/>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21" name="Freeform 3">
            <a:extLst>
              <a:ext uri="{FF2B5EF4-FFF2-40B4-BE49-F238E27FC236}">
                <a16:creationId xmlns:a16="http://schemas.microsoft.com/office/drawing/2014/main" id="{A25D4DD2-2A8E-6F40-7FC1-C0F0F2D59010}"/>
              </a:ext>
            </a:extLst>
          </p:cNvPr>
          <p:cNvSpPr/>
          <p:nvPr/>
        </p:nvSpPr>
        <p:spPr>
          <a:xfrm>
            <a:off x="4689" y="8512503"/>
            <a:ext cx="3493612" cy="1759510"/>
          </a:xfrm>
          <a:custGeom>
            <a:avLst/>
            <a:gdLst/>
            <a:ahLst/>
            <a:cxnLst/>
            <a:rect l="l" t="t" r="r" b="b"/>
            <a:pathLst>
              <a:path w="3493612" h="1759510">
                <a:moveTo>
                  <a:pt x="0" y="0"/>
                </a:moveTo>
                <a:lnTo>
                  <a:pt x="3493612" y="0"/>
                </a:lnTo>
                <a:lnTo>
                  <a:pt x="3493612" y="1759510"/>
                </a:lnTo>
                <a:lnTo>
                  <a:pt x="0" y="17595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3">
            <a:extLst>
              <a:ext uri="{FF2B5EF4-FFF2-40B4-BE49-F238E27FC236}">
                <a16:creationId xmlns:a16="http://schemas.microsoft.com/office/drawing/2014/main" id="{24255996-29EB-6717-D332-CCA0EB81AA3C}"/>
              </a:ext>
            </a:extLst>
          </p:cNvPr>
          <p:cNvSpPr txBox="1"/>
          <p:nvPr/>
        </p:nvSpPr>
        <p:spPr>
          <a:xfrm>
            <a:off x="228600" y="2420339"/>
            <a:ext cx="4724400" cy="707886"/>
          </a:xfrm>
          <a:prstGeom prst="rect">
            <a:avLst/>
          </a:prstGeom>
          <a:noFill/>
        </p:spPr>
        <p:txBody>
          <a:bodyPr wrap="square" rtlCol="0">
            <a:spAutoFit/>
          </a:bodyPr>
          <a:lstStyle/>
          <a:p>
            <a:r>
              <a:rPr lang="vi-VN" sz="4000" b="1"/>
              <a:t>Mô tả tập dữ liệu</a:t>
            </a:r>
            <a:endParaRPr lang="en-US" sz="4000" b="1"/>
          </a:p>
        </p:txBody>
      </p:sp>
      <p:sp>
        <p:nvSpPr>
          <p:cNvPr id="7" name="TextBox 6">
            <a:extLst>
              <a:ext uri="{FF2B5EF4-FFF2-40B4-BE49-F238E27FC236}">
                <a16:creationId xmlns:a16="http://schemas.microsoft.com/office/drawing/2014/main" id="{B56126A6-4E3B-3DAA-332B-0578207C8946}"/>
              </a:ext>
            </a:extLst>
          </p:cNvPr>
          <p:cNvSpPr txBox="1"/>
          <p:nvPr/>
        </p:nvSpPr>
        <p:spPr>
          <a:xfrm>
            <a:off x="533400" y="3248512"/>
            <a:ext cx="9220200" cy="349518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500" b="1"/>
              <a:t>T</a:t>
            </a:r>
            <a:r>
              <a:rPr lang="en-US" sz="2500" b="1"/>
              <a:t>ập dữ liệu: </a:t>
            </a:r>
            <a:r>
              <a:rPr lang="en-US" sz="2500"/>
              <a:t>Bao gồm thông tin bài đăng tuyển dụng từ trang web việc làm.</a:t>
            </a:r>
            <a:endParaRPr lang="vi-VN" sz="2500"/>
          </a:p>
          <a:p>
            <a:pPr marL="342900" indent="-342900">
              <a:lnSpc>
                <a:spcPct val="150000"/>
              </a:lnSpc>
              <a:buFont typeface="Arial" panose="020B0604020202020204" pitchFamily="34" charset="0"/>
              <a:buChar char="•"/>
            </a:pPr>
            <a:r>
              <a:rPr lang="en-US" sz="2500" b="1"/>
              <a:t>Mục đích: </a:t>
            </a:r>
            <a:r>
              <a:rPr lang="en-US" sz="2500"/>
              <a:t>Phân tích cấu trúc, đặc điểm để phát hiện bài đăng gian lận.</a:t>
            </a:r>
            <a:endParaRPr lang="vi-VN" sz="2500"/>
          </a:p>
          <a:p>
            <a:pPr marL="342900" indent="-342900">
              <a:lnSpc>
                <a:spcPct val="150000"/>
              </a:lnSpc>
              <a:buFont typeface="Arial" panose="020B0604020202020204" pitchFamily="34" charset="0"/>
              <a:buChar char="•"/>
            </a:pPr>
            <a:r>
              <a:rPr lang="en-US" sz="2500" b="1"/>
              <a:t>Tổng quan: </a:t>
            </a:r>
            <a:r>
              <a:rPr lang="en-US" sz="2500"/>
              <a:t>Dữ liệu </a:t>
            </a:r>
            <a:r>
              <a:rPr lang="vi-VN" sz="2500"/>
              <a:t>có</a:t>
            </a:r>
            <a:r>
              <a:rPr lang="en-US" sz="2500"/>
              <a:t> 17.880 bản ghi (rows), với các cột (columns) chứa thông tin chi tiết về việc làm.</a:t>
            </a:r>
          </a:p>
        </p:txBody>
      </p:sp>
      <p:pic>
        <p:nvPicPr>
          <p:cNvPr id="9" name="Picture 8">
            <a:extLst>
              <a:ext uri="{FF2B5EF4-FFF2-40B4-BE49-F238E27FC236}">
                <a16:creationId xmlns:a16="http://schemas.microsoft.com/office/drawing/2014/main" id="{EBBAA2B2-6B92-B940-0284-EEF77ED8D4CA}"/>
              </a:ext>
            </a:extLst>
          </p:cNvPr>
          <p:cNvPicPr>
            <a:picLocks noChangeAspect="1"/>
          </p:cNvPicPr>
          <p:nvPr/>
        </p:nvPicPr>
        <p:blipFill>
          <a:blip r:embed="rId5"/>
          <a:stretch>
            <a:fillRect/>
          </a:stretch>
        </p:blipFill>
        <p:spPr>
          <a:xfrm>
            <a:off x="10363200" y="2576627"/>
            <a:ext cx="6310732" cy="686577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62280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364" b="-3364"/>
            </a:stretch>
          </a:blipFill>
        </p:spPr>
        <p:txBody>
          <a:bodyPr/>
          <a:lstStyle/>
          <a:p>
            <a:endParaRPr lang="en-US"/>
          </a:p>
        </p:txBody>
      </p:sp>
      <p:sp>
        <p:nvSpPr>
          <p:cNvPr id="3" name="TextBox 3"/>
          <p:cNvSpPr txBox="1"/>
          <p:nvPr/>
        </p:nvSpPr>
        <p:spPr>
          <a:xfrm>
            <a:off x="990741" y="590943"/>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21" name="Freeform 3">
            <a:extLst>
              <a:ext uri="{FF2B5EF4-FFF2-40B4-BE49-F238E27FC236}">
                <a16:creationId xmlns:a16="http://schemas.microsoft.com/office/drawing/2014/main" id="{835C40BA-8718-9E12-60B1-AD23122F36AF}"/>
              </a:ext>
            </a:extLst>
          </p:cNvPr>
          <p:cNvSpPr/>
          <p:nvPr/>
        </p:nvSpPr>
        <p:spPr>
          <a:xfrm>
            <a:off x="14794388" y="8512503"/>
            <a:ext cx="3493612" cy="1759510"/>
          </a:xfrm>
          <a:custGeom>
            <a:avLst/>
            <a:gdLst/>
            <a:ahLst/>
            <a:cxnLst/>
            <a:rect l="l" t="t" r="r" b="b"/>
            <a:pathLst>
              <a:path w="3493612" h="1759510">
                <a:moveTo>
                  <a:pt x="0" y="0"/>
                </a:moveTo>
                <a:lnTo>
                  <a:pt x="3493612" y="0"/>
                </a:lnTo>
                <a:lnTo>
                  <a:pt x="3493612" y="1759510"/>
                </a:lnTo>
                <a:lnTo>
                  <a:pt x="0" y="17595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0" name="Group 9">
            <a:extLst>
              <a:ext uri="{FF2B5EF4-FFF2-40B4-BE49-F238E27FC236}">
                <a16:creationId xmlns:a16="http://schemas.microsoft.com/office/drawing/2014/main" id="{C96B2AF9-B23D-F28A-D33D-F228FA5C0819}"/>
              </a:ext>
            </a:extLst>
          </p:cNvPr>
          <p:cNvGrpSpPr/>
          <p:nvPr/>
        </p:nvGrpSpPr>
        <p:grpSpPr>
          <a:xfrm>
            <a:off x="228600" y="2216531"/>
            <a:ext cx="16459200" cy="8165697"/>
            <a:chOff x="228600" y="2419915"/>
            <a:chExt cx="16459200" cy="8165697"/>
          </a:xfrm>
        </p:grpSpPr>
        <p:sp>
          <p:nvSpPr>
            <p:cNvPr id="4" name="TextBox 3">
              <a:extLst>
                <a:ext uri="{FF2B5EF4-FFF2-40B4-BE49-F238E27FC236}">
                  <a16:creationId xmlns:a16="http://schemas.microsoft.com/office/drawing/2014/main" id="{1826BDDF-C67B-7193-05EF-DFADE97D866F}"/>
                </a:ext>
              </a:extLst>
            </p:cNvPr>
            <p:cNvSpPr txBox="1"/>
            <p:nvPr/>
          </p:nvSpPr>
          <p:spPr>
            <a:xfrm>
              <a:off x="228600" y="2419915"/>
              <a:ext cx="9677400" cy="630942"/>
            </a:xfrm>
            <a:prstGeom prst="rect">
              <a:avLst/>
            </a:prstGeom>
            <a:noFill/>
          </p:spPr>
          <p:txBody>
            <a:bodyPr wrap="square" rtlCol="0">
              <a:spAutoFit/>
            </a:bodyPr>
            <a:lstStyle/>
            <a:p>
              <a:r>
                <a:rPr lang="vi-VN" sz="3500" b="1"/>
                <a:t>Tiền xử lí dữ liệu (Data Preprocessing)</a:t>
              </a:r>
              <a:endParaRPr lang="en-US" sz="3500" b="1"/>
            </a:p>
          </p:txBody>
        </p:sp>
        <p:sp>
          <p:nvSpPr>
            <p:cNvPr id="7" name="TextBox 6">
              <a:extLst>
                <a:ext uri="{FF2B5EF4-FFF2-40B4-BE49-F238E27FC236}">
                  <a16:creationId xmlns:a16="http://schemas.microsoft.com/office/drawing/2014/main" id="{8F5812E3-A1C9-54EC-3AC3-B714E8AAFD96}"/>
                </a:ext>
              </a:extLst>
            </p:cNvPr>
            <p:cNvSpPr txBox="1"/>
            <p:nvPr/>
          </p:nvSpPr>
          <p:spPr>
            <a:xfrm>
              <a:off x="533400" y="3050857"/>
              <a:ext cx="16154400" cy="7534755"/>
            </a:xfrm>
            <a:prstGeom prst="rect">
              <a:avLst/>
            </a:prstGeom>
            <a:noFill/>
          </p:spPr>
          <p:txBody>
            <a:bodyPr wrap="square" rtlCol="0">
              <a:spAutoFit/>
            </a:bodyPr>
            <a:lstStyle/>
            <a:p>
              <a:pPr>
                <a:lnSpc>
                  <a:spcPct val="150000"/>
                </a:lnSpc>
              </a:pPr>
              <a:r>
                <a:rPr lang="vi-VN" sz="2500" b="1"/>
                <a:t>Xử Lý Dữ Liệu Mất Cân Bằng (Imbalanced Data Handling)</a:t>
              </a:r>
            </a:p>
            <a:p>
              <a:pPr>
                <a:lnSpc>
                  <a:spcPct val="150000"/>
                </a:lnSpc>
              </a:pPr>
              <a:r>
                <a:rPr lang="vi-VN" sz="2500"/>
                <a:t>Vấn đề: Lớp thiểu số (gian lận) quá ít dẫn đến overfitting/underfitting.</a:t>
              </a:r>
            </a:p>
            <a:p>
              <a:pPr>
                <a:lnSpc>
                  <a:spcPct val="150000"/>
                </a:lnSpc>
              </a:pPr>
              <a:r>
                <a:rPr lang="vi-VN" sz="2500"/>
                <a:t>Hai hướng xử lý:</a:t>
              </a:r>
            </a:p>
            <a:p>
              <a:pPr lvl="1">
                <a:lnSpc>
                  <a:spcPct val="150000"/>
                </a:lnSpc>
              </a:pPr>
              <a:r>
                <a:rPr lang="vi-VN" sz="2500" b="1"/>
                <a:t>Hướng 1: Oversampling bằng SMOTE</a:t>
              </a:r>
              <a:endParaRPr lang="vi-VN" sz="2500"/>
            </a:p>
            <a:p>
              <a:pPr lvl="2">
                <a:lnSpc>
                  <a:spcPct val="150000"/>
                </a:lnSpc>
              </a:pPr>
              <a:r>
                <a:rPr lang="vi-VN" sz="2500"/>
                <a:t>Tạo mẫu tổng hợp cho lớp thiểu số (Synthetic Minority Over-sampling Technique).</a:t>
              </a:r>
            </a:p>
            <a:p>
              <a:pPr lvl="2">
                <a:lnSpc>
                  <a:spcPct val="150000"/>
                </a:lnSpc>
              </a:pPr>
              <a:r>
                <a:rPr lang="vi-VN" sz="2500"/>
                <a:t>Tăng từ 800 lên ~16.400 mẫu gian lận.</a:t>
              </a:r>
            </a:p>
            <a:p>
              <a:pPr lvl="2">
                <a:lnSpc>
                  <a:spcPct val="150000"/>
                </a:lnSpc>
              </a:pPr>
              <a:r>
                <a:rPr lang="vi-VN" sz="2500"/>
                <a:t>Tỷ lệ mới: 1:1.1, tổng mẫu ~34.400.</a:t>
              </a:r>
            </a:p>
            <a:p>
              <a:pPr lvl="1">
                <a:lnSpc>
                  <a:spcPct val="150000"/>
                </a:lnSpc>
              </a:pPr>
              <a:r>
                <a:rPr lang="vi-VN" sz="2500" b="1"/>
                <a:t>Hướng 2: Kết hợp SMOTE và Undersampling</a:t>
              </a:r>
              <a:endParaRPr lang="vi-VN" sz="2500"/>
            </a:p>
            <a:p>
              <a:pPr lvl="2">
                <a:lnSpc>
                  <a:spcPct val="150000"/>
                </a:lnSpc>
              </a:pPr>
              <a:r>
                <a:rPr lang="vi-VN" sz="2500"/>
                <a:t>SMOTE: Tăng lớp thiểu số lên ~4.000 (tăng ~5 lần).</a:t>
              </a:r>
            </a:p>
            <a:p>
              <a:pPr lvl="2">
                <a:lnSpc>
                  <a:spcPct val="150000"/>
                </a:lnSpc>
              </a:pPr>
              <a:r>
                <a:rPr lang="vi-VN" sz="2500"/>
                <a:t>Undersampling: Giảm lớp đa số xuống ~4.800-5.000 để tránh overfitting.</a:t>
              </a:r>
            </a:p>
            <a:p>
              <a:pPr lvl="2">
                <a:lnSpc>
                  <a:spcPct val="150000"/>
                </a:lnSpc>
              </a:pPr>
              <a:r>
                <a:rPr lang="vi-VN" sz="2500"/>
                <a:t>Tổng mẫu: ~8.800-9.000.</a:t>
              </a:r>
            </a:p>
            <a:p>
              <a:pPr>
                <a:lnSpc>
                  <a:spcPct val="150000"/>
                </a:lnSpc>
              </a:pPr>
              <a:r>
                <a:rPr lang="vi-VN" sz="2500" b="1"/>
                <a:t>Kết quả: </a:t>
              </a:r>
              <a:r>
                <a:rPr lang="vi-VN" sz="2500"/>
                <a:t>Cân bằng dữ liệu, giảm bias mô hình.</a:t>
              </a:r>
            </a:p>
            <a:p>
              <a:pPr>
                <a:lnSpc>
                  <a:spcPct val="150000"/>
                </a:lnSpc>
              </a:pPr>
              <a:endParaRPr lang="en-US" sz="250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CEF4E-9690-5984-5780-4F727FBE008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D90E90-41D4-359B-0F7A-C722740286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4B89173F-6612-1E13-FCF9-001F62116A06}"/>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4" name="TextBox 3">
            <a:extLst>
              <a:ext uri="{FF2B5EF4-FFF2-40B4-BE49-F238E27FC236}">
                <a16:creationId xmlns:a16="http://schemas.microsoft.com/office/drawing/2014/main" id="{F70E0705-6009-058D-DA02-571D0182FDAA}"/>
              </a:ext>
            </a:extLst>
          </p:cNvPr>
          <p:cNvSpPr txBox="1"/>
          <p:nvPr/>
        </p:nvSpPr>
        <p:spPr>
          <a:xfrm>
            <a:off x="533400" y="2147404"/>
            <a:ext cx="16535400" cy="4291496"/>
          </a:xfrm>
          <a:prstGeom prst="rect">
            <a:avLst/>
          </a:prstGeom>
          <a:noFill/>
        </p:spPr>
        <p:txBody>
          <a:bodyPr wrap="square" rtlCol="0">
            <a:spAutoFit/>
          </a:bodyPr>
          <a:lstStyle/>
          <a:p>
            <a:pPr>
              <a:lnSpc>
                <a:spcPct val="150000"/>
              </a:lnSpc>
            </a:pPr>
            <a:r>
              <a:rPr lang="en-US" sz="3500" b="1">
                <a:latin typeface="Arial" panose="020B0604020202020204" pitchFamily="34" charset="0"/>
                <a:cs typeface="Arial" panose="020B0604020202020204" pitchFamily="34" charset="0"/>
              </a:rPr>
              <a:t>Xử Lý Giá Trị Thiếu (Missing Values Imputation)</a:t>
            </a:r>
          </a:p>
          <a:p>
            <a:pPr marL="342900" indent="-342900">
              <a:lnSpc>
                <a:spcPct val="150000"/>
              </a:lnSpc>
              <a:buFont typeface="Arial" panose="020B0604020202020204" pitchFamily="34" charset="0"/>
              <a:buChar char="•"/>
            </a:pPr>
            <a:r>
              <a:rPr lang="en-US" sz="2500">
                <a:latin typeface="Arial" panose="020B0604020202020204" pitchFamily="34" charset="0"/>
                <a:cs typeface="Arial" panose="020B0604020202020204" pitchFamily="34" charset="0"/>
              </a:rPr>
              <a:t>Các giá trị trống trong dữ liệu được xử lý theo từng nhóm kiểu dữ liệu như sau:</a:t>
            </a:r>
          </a:p>
          <a:p>
            <a:pPr marL="342900" lvl="0" indent="-342900">
              <a:lnSpc>
                <a:spcPct val="150000"/>
              </a:lnSpc>
              <a:buFont typeface="Arial" panose="020B0604020202020204" pitchFamily="34" charset="0"/>
              <a:buChar char="•"/>
            </a:pPr>
            <a:r>
              <a:rPr lang="en-US" sz="2500" b="1">
                <a:latin typeface="Arial" panose="020B0604020202020204" pitchFamily="34" charset="0"/>
                <a:cs typeface="Arial" panose="020B0604020202020204" pitchFamily="34" charset="0"/>
              </a:rPr>
              <a:t>Cột số (numerical features)</a:t>
            </a:r>
            <a:r>
              <a:rPr lang="en-US" sz="2500">
                <a:latin typeface="Arial" panose="020B0604020202020204" pitchFamily="34" charset="0"/>
                <a:cs typeface="Arial" panose="020B0604020202020204" pitchFamily="34" charset="0"/>
              </a:rPr>
              <a:t>: Thay thế bằng giá trị trung vị (median) của cột để giảm ảnh hưởng của các giá trị ngoại lai.</a:t>
            </a:r>
          </a:p>
          <a:p>
            <a:pPr marL="342900" lvl="0" indent="-342900">
              <a:lnSpc>
                <a:spcPct val="150000"/>
              </a:lnSpc>
              <a:buFont typeface="Arial" panose="020B0604020202020204" pitchFamily="34" charset="0"/>
              <a:buChar char="•"/>
            </a:pPr>
            <a:r>
              <a:rPr lang="en-US" sz="2500" b="1">
                <a:latin typeface="Arial" panose="020B0604020202020204" pitchFamily="34" charset="0"/>
                <a:cs typeface="Arial" panose="020B0604020202020204" pitchFamily="34" charset="0"/>
              </a:rPr>
              <a:t>Cột phân loại dạng chữ (categorical string features)</a:t>
            </a:r>
            <a:r>
              <a:rPr lang="en-US" sz="2500">
                <a:latin typeface="Arial" panose="020B0604020202020204" pitchFamily="34" charset="0"/>
                <a:cs typeface="Arial" panose="020B0604020202020204" pitchFamily="34" charset="0"/>
              </a:rPr>
              <a:t>: Thay thế bằng chuỗi "unknown".</a:t>
            </a:r>
          </a:p>
          <a:p>
            <a:pPr marL="342900" lvl="0" indent="-342900">
              <a:lnSpc>
                <a:spcPct val="150000"/>
              </a:lnSpc>
              <a:buFont typeface="Arial" panose="020B0604020202020204" pitchFamily="34" charset="0"/>
              <a:buChar char="•"/>
            </a:pPr>
            <a:r>
              <a:rPr lang="en-US" sz="2500" b="1">
                <a:latin typeface="Arial" panose="020B0604020202020204" pitchFamily="34" charset="0"/>
                <a:cs typeface="Arial" panose="020B0604020202020204" pitchFamily="34" charset="0"/>
              </a:rPr>
              <a:t>Cột văn bản (textual features)</a:t>
            </a:r>
            <a:r>
              <a:rPr lang="en-US" sz="2500">
                <a:latin typeface="Arial" panose="020B0604020202020204" pitchFamily="34" charset="0"/>
                <a:cs typeface="Arial" panose="020B0604020202020204" pitchFamily="34" charset="0"/>
              </a:rPr>
              <a:t>: Thay thế bằng chuỗi "missing".</a:t>
            </a:r>
          </a:p>
          <a:p>
            <a:pPr>
              <a:lnSpc>
                <a:spcPct val="150000"/>
              </a:lnSpc>
            </a:pPr>
            <a:endParaRPr lang="en-US" sz="2500" b="1">
              <a:latin typeface="Arial" panose="020B0604020202020204" pitchFamily="34" charset="0"/>
              <a:cs typeface="Arial" panose="020B0604020202020204" pitchFamily="34" charset="0"/>
            </a:endParaRPr>
          </a:p>
        </p:txBody>
      </p:sp>
      <p:sp>
        <p:nvSpPr>
          <p:cNvPr id="6" name="Freeform 8">
            <a:extLst>
              <a:ext uri="{FF2B5EF4-FFF2-40B4-BE49-F238E27FC236}">
                <a16:creationId xmlns:a16="http://schemas.microsoft.com/office/drawing/2014/main" id="{08ACCB10-FCC0-76FF-B90D-B4E11CBEBED0}"/>
              </a:ext>
            </a:extLst>
          </p:cNvPr>
          <p:cNvSpPr/>
          <p:nvPr/>
        </p:nvSpPr>
        <p:spPr>
          <a:xfrm>
            <a:off x="0" y="7962900"/>
            <a:ext cx="18318480" cy="2335682"/>
          </a:xfrm>
          <a:custGeom>
            <a:avLst/>
            <a:gdLst/>
            <a:ahLst/>
            <a:cxnLst/>
            <a:rect l="l" t="t" r="r" b="b"/>
            <a:pathLst>
              <a:path w="2611028" h="1020674">
                <a:moveTo>
                  <a:pt x="0" y="0"/>
                </a:moveTo>
                <a:lnTo>
                  <a:pt x="2611028" y="0"/>
                </a:lnTo>
                <a:lnTo>
                  <a:pt x="2611028" y="1020675"/>
                </a:lnTo>
                <a:lnTo>
                  <a:pt x="0" y="10206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633013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C469E-C4C9-357A-5EC1-D4E672FE82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F41437-C465-DF12-5E4F-7D76605F83F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0E9477FD-870B-C032-9E36-9833CFC718C7}"/>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5" name="TextBox 4">
            <a:extLst>
              <a:ext uri="{FF2B5EF4-FFF2-40B4-BE49-F238E27FC236}">
                <a16:creationId xmlns:a16="http://schemas.microsoft.com/office/drawing/2014/main" id="{8A3C3931-4216-5AF5-31B0-72AE3089FD0E}"/>
              </a:ext>
            </a:extLst>
          </p:cNvPr>
          <p:cNvSpPr txBox="1"/>
          <p:nvPr/>
        </p:nvSpPr>
        <p:spPr>
          <a:xfrm>
            <a:off x="414997" y="1847860"/>
            <a:ext cx="17907000" cy="7794441"/>
          </a:xfrm>
          <a:prstGeom prst="rect">
            <a:avLst/>
          </a:prstGeom>
          <a:noFill/>
        </p:spPr>
        <p:txBody>
          <a:bodyPr wrap="square" rtlCol="0">
            <a:spAutoFit/>
          </a:bodyPr>
          <a:lstStyle/>
          <a:p>
            <a:r>
              <a:rPr lang="en-US" sz="3500" b="1">
                <a:latin typeface="Arial" panose="020B0604020202020204" pitchFamily="34" charset="0"/>
                <a:cs typeface="Arial" panose="020B0604020202020204" pitchFamily="34" charset="0"/>
              </a:rPr>
              <a:t>Chỉnh Sửa Và Kỹ Thuật Đặc Trưng (Feature Engineering)</a:t>
            </a:r>
            <a:endParaRPr lang="vi-VN" sz="3500" b="1">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500" b="1"/>
              <a:t>Loại bỏ cột</a:t>
            </a:r>
            <a:r>
              <a:rPr lang="vi-VN" sz="2500"/>
              <a:t>:</a:t>
            </a:r>
          </a:p>
          <a:p>
            <a:pPr marL="742950" lvl="1" indent="-285750">
              <a:lnSpc>
                <a:spcPct val="150000"/>
              </a:lnSpc>
              <a:buFont typeface="Arial" panose="020B0604020202020204" pitchFamily="34" charset="0"/>
              <a:buChar char="•"/>
            </a:pPr>
            <a:r>
              <a:rPr lang="vi-VN" sz="2500"/>
              <a:t>Job_id: Không mang thông tin dự đoán (tính duy nhất quá cao, không hữu ích cho mô hình).</a:t>
            </a:r>
          </a:p>
          <a:p>
            <a:pPr marL="285750" indent="-285750">
              <a:lnSpc>
                <a:spcPct val="150000"/>
              </a:lnSpc>
              <a:buFont typeface="Arial" panose="020B0604020202020204" pitchFamily="34" charset="0"/>
              <a:buChar char="•"/>
            </a:pPr>
            <a:r>
              <a:rPr lang="vi-VN" sz="2500" b="1"/>
              <a:t>Thêm cột mới</a:t>
            </a:r>
            <a:r>
              <a:rPr lang="vi-VN" sz="2500"/>
              <a:t>:</a:t>
            </a:r>
          </a:p>
          <a:p>
            <a:pPr marL="742950" lvl="1" indent="-285750">
              <a:lnSpc>
                <a:spcPct val="150000"/>
              </a:lnSpc>
              <a:buFont typeface="Arial" panose="020B0604020202020204" pitchFamily="34" charset="0"/>
              <a:buChar char="•"/>
            </a:pPr>
            <a:r>
              <a:rPr lang="vi-VN" sz="2500"/>
              <a:t>Keyword: Giá trị 0/1 dựa trên quy tắc domain knowledge (có/không chứa từ khóa liên quan đến gian lận).</a:t>
            </a:r>
          </a:p>
          <a:p>
            <a:pPr marL="742950" lvl="1" indent="-285750">
              <a:lnSpc>
                <a:spcPct val="150000"/>
              </a:lnSpc>
              <a:buFont typeface="Arial" panose="020B0604020202020204" pitchFamily="34" charset="0"/>
              <a:buChar char="•"/>
            </a:pPr>
            <a:r>
              <a:rPr lang="vi-VN" sz="2500"/>
              <a:t>Chain: Giá trị 0/1 dựa trên chuỗi liên quan trong tiêu đề/mô tả (dựa trên kiến thức chuyên môn).</a:t>
            </a:r>
          </a:p>
          <a:p>
            <a:pPr marL="285750" indent="-285750">
              <a:lnSpc>
                <a:spcPct val="150000"/>
              </a:lnSpc>
              <a:buFont typeface="Arial" panose="020B0604020202020204" pitchFamily="34" charset="0"/>
              <a:buChar char="•"/>
            </a:pPr>
            <a:r>
              <a:rPr lang="vi-VN" sz="2500" b="1"/>
              <a:t>Gộp đặc trưng văn bản</a:t>
            </a:r>
            <a:r>
              <a:rPr lang="vi-VN" sz="2500"/>
              <a:t>:</a:t>
            </a:r>
          </a:p>
          <a:p>
            <a:pPr marL="742950" lvl="1" indent="-285750">
              <a:lnSpc>
                <a:spcPct val="150000"/>
              </a:lnSpc>
              <a:buFont typeface="Arial" panose="020B0604020202020204" pitchFamily="34" charset="0"/>
              <a:buChar char="•"/>
            </a:pPr>
            <a:r>
              <a:rPr lang="vi-VN" sz="2500"/>
              <a:t>Kết hợp tất cả cột dạng chữ (title, description, requirements, v.v.) thành một cột duy nhất: </a:t>
            </a:r>
            <a:r>
              <a:rPr lang="vi-VN" sz="2500" b="1"/>
              <a:t>combined_text</a:t>
            </a:r>
            <a:r>
              <a:rPr lang="vi-VN" sz="2500"/>
              <a:t>.</a:t>
            </a:r>
          </a:p>
          <a:p>
            <a:pPr marL="742950" lvl="1" indent="-285750">
              <a:lnSpc>
                <a:spcPct val="150000"/>
              </a:lnSpc>
              <a:buFont typeface="Arial" panose="020B0604020202020204" pitchFamily="34" charset="0"/>
              <a:buChar char="•"/>
            </a:pPr>
            <a:r>
              <a:rPr lang="vi-VN" sz="2500"/>
              <a:t>Lợi ích: Tập trung thông tin văn bản, giảm chiều dữ liệu đầu vào, dễ xử lý hơn cho mô hình.</a:t>
            </a:r>
          </a:p>
          <a:p>
            <a:pPr marL="285750" indent="-285750">
              <a:lnSpc>
                <a:spcPct val="150000"/>
              </a:lnSpc>
              <a:buFont typeface="Arial" panose="020B0604020202020204" pitchFamily="34" charset="0"/>
              <a:buChar char="•"/>
            </a:pPr>
            <a:r>
              <a:rPr lang="vi-VN" sz="2500" b="1"/>
              <a:t>Lợi Ích Tổng Thể</a:t>
            </a:r>
          </a:p>
          <a:p>
            <a:pPr marL="285750" indent="-285750">
              <a:lnSpc>
                <a:spcPct val="150000"/>
              </a:lnSpc>
              <a:buFont typeface="Arial" panose="020B0604020202020204" pitchFamily="34" charset="0"/>
              <a:buChar char="•"/>
            </a:pPr>
            <a:r>
              <a:rPr lang="vi-VN" sz="2500"/>
              <a:t>Tăng độ chính xác dự đoán gian lận.</a:t>
            </a:r>
          </a:p>
          <a:p>
            <a:pPr marL="285750" indent="-285750">
              <a:lnSpc>
                <a:spcPct val="150000"/>
              </a:lnSpc>
              <a:buFont typeface="Arial" panose="020B0604020202020204" pitchFamily="34" charset="0"/>
              <a:buChar char="•"/>
            </a:pPr>
            <a:r>
              <a:rPr lang="vi-VN" sz="2500"/>
              <a:t>Cải thiện hiệu suất mô hình bằng cách làm dữ liệu sạch hơn, thông tin hơn.</a:t>
            </a:r>
          </a:p>
          <a:p>
            <a:endParaRPr lang="en-US" sz="3500" b="1">
              <a:latin typeface="Arial" panose="020B0604020202020204" pitchFamily="34" charset="0"/>
              <a:cs typeface="Arial" panose="020B0604020202020204" pitchFamily="34" charset="0"/>
            </a:endParaRPr>
          </a:p>
          <a:p>
            <a:endParaRPr lang="en-US"/>
          </a:p>
        </p:txBody>
      </p:sp>
      <p:sp>
        <p:nvSpPr>
          <p:cNvPr id="7" name="Freeform 3">
            <a:extLst>
              <a:ext uri="{FF2B5EF4-FFF2-40B4-BE49-F238E27FC236}">
                <a16:creationId xmlns:a16="http://schemas.microsoft.com/office/drawing/2014/main" id="{2998782E-E3E6-A183-9A77-B20F2AC3BED8}"/>
              </a:ext>
            </a:extLst>
          </p:cNvPr>
          <p:cNvSpPr/>
          <p:nvPr/>
        </p:nvSpPr>
        <p:spPr>
          <a:xfrm>
            <a:off x="14794388" y="8512503"/>
            <a:ext cx="3493612" cy="1759510"/>
          </a:xfrm>
          <a:custGeom>
            <a:avLst/>
            <a:gdLst/>
            <a:ahLst/>
            <a:cxnLst/>
            <a:rect l="l" t="t" r="r" b="b"/>
            <a:pathLst>
              <a:path w="3493612" h="1759510">
                <a:moveTo>
                  <a:pt x="0" y="0"/>
                </a:moveTo>
                <a:lnTo>
                  <a:pt x="3493612" y="0"/>
                </a:lnTo>
                <a:lnTo>
                  <a:pt x="3493612" y="1759510"/>
                </a:lnTo>
                <a:lnTo>
                  <a:pt x="0" y="17595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4001162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2CE66-9561-C447-BDDF-ACBE0E7FD53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CCE8B8-711D-B87F-6683-2D5BA5C5339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E57B61DA-EB06-51AC-4933-E280A9E9232D}"/>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5" name="TextBox 4">
            <a:extLst>
              <a:ext uri="{FF2B5EF4-FFF2-40B4-BE49-F238E27FC236}">
                <a16:creationId xmlns:a16="http://schemas.microsoft.com/office/drawing/2014/main" id="{2EA63F96-2784-70A1-018D-255929ED8BBD}"/>
              </a:ext>
            </a:extLst>
          </p:cNvPr>
          <p:cNvSpPr txBox="1"/>
          <p:nvPr/>
        </p:nvSpPr>
        <p:spPr>
          <a:xfrm>
            <a:off x="417286" y="2557825"/>
            <a:ext cx="17907000" cy="5178341"/>
          </a:xfrm>
          <a:prstGeom prst="rect">
            <a:avLst/>
          </a:prstGeom>
          <a:noFill/>
        </p:spPr>
        <p:txBody>
          <a:bodyPr wrap="square" rtlCol="0">
            <a:spAutoFit/>
          </a:bodyPr>
          <a:lstStyle/>
          <a:p>
            <a:r>
              <a:rPr lang="en-US" sz="3500" b="1">
                <a:latin typeface="Arial" panose="020B0604020202020204" pitchFamily="34" charset="0"/>
                <a:cs typeface="Arial" panose="020B0604020202020204" pitchFamily="34" charset="0"/>
              </a:rPr>
              <a:t>Chuẩn Hóa Và Vector Hóa Dữ Liệu (Data Normalization &amp; Text Vectorization)</a:t>
            </a:r>
          </a:p>
          <a:p>
            <a:pPr lvl="1">
              <a:lnSpc>
                <a:spcPct val="150000"/>
              </a:lnSpc>
            </a:pPr>
            <a:r>
              <a:rPr lang="vi-VN" sz="3000" b="1"/>
              <a:t>Xử lý đặc trưng</a:t>
            </a:r>
          </a:p>
          <a:p>
            <a:pPr marL="800100" lvl="1" indent="-342900">
              <a:lnSpc>
                <a:spcPct val="150000"/>
              </a:lnSpc>
              <a:buFont typeface="Arial" panose="020B0604020202020204" pitchFamily="34" charset="0"/>
              <a:buChar char="•"/>
            </a:pPr>
            <a:r>
              <a:rPr lang="vi-VN" sz="2500" b="1"/>
              <a:t>Đặc trưng số:</a:t>
            </a:r>
            <a:r>
              <a:rPr lang="vi-VN" sz="2500"/>
              <a:t> Giữ nguyên (do chủ yếu là hệ nhị phân 0/1).</a:t>
            </a:r>
          </a:p>
          <a:p>
            <a:pPr marL="800100" lvl="1" indent="-342900">
              <a:lnSpc>
                <a:spcPct val="150000"/>
              </a:lnSpc>
              <a:buFont typeface="Arial" panose="020B0604020202020204" pitchFamily="34" charset="0"/>
              <a:buChar char="•"/>
            </a:pPr>
            <a:r>
              <a:rPr lang="vi-VN" sz="2500" b="1"/>
              <a:t>Đặc trưng văn bản:</a:t>
            </a:r>
            <a:r>
              <a:rPr lang="vi-VN" sz="2500"/>
              <a:t> Làm sạch (loại bỏ ký tự đặc biệt, stop-words) &amp; Chuẩn hóa (viết thường, lemmatization/stemming).</a:t>
            </a:r>
          </a:p>
          <a:p>
            <a:pPr lvl="1">
              <a:lnSpc>
                <a:spcPct val="150000"/>
              </a:lnSpc>
            </a:pPr>
            <a:r>
              <a:rPr lang="vi-VN" sz="3000" b="1"/>
              <a:t>Kỹ thuật Vector hóa (3 Pipeline riêng biệt)</a:t>
            </a:r>
          </a:p>
          <a:p>
            <a:pPr marL="800100" lvl="1" indent="-342900">
              <a:lnSpc>
                <a:spcPct val="150000"/>
              </a:lnSpc>
              <a:buFont typeface="Arial" panose="020B0604020202020204" pitchFamily="34" charset="0"/>
              <a:buChar char="•"/>
            </a:pPr>
            <a:r>
              <a:rPr lang="vi-VN" sz="2500" b="1"/>
              <a:t>CountVectorizer:</a:t>
            </a:r>
            <a:r>
              <a:rPr lang="vi-VN" sz="2500"/>
              <a:t> Mô hình túi từ (Bag-of-Words).</a:t>
            </a:r>
          </a:p>
          <a:p>
            <a:pPr marL="800100" lvl="1" indent="-342900">
              <a:lnSpc>
                <a:spcPct val="150000"/>
              </a:lnSpc>
              <a:buFont typeface="Arial" panose="020B0604020202020204" pitchFamily="34" charset="0"/>
              <a:buChar char="•"/>
            </a:pPr>
            <a:r>
              <a:rPr lang="vi-VN" sz="2500" b="1"/>
              <a:t>TF-IDF Vectorizer:</a:t>
            </a:r>
            <a:r>
              <a:rPr lang="vi-VN" sz="2500"/>
              <a:t> Đánh trọng số tần suất từ và nghịch đảo văn bản.</a:t>
            </a:r>
          </a:p>
          <a:p>
            <a:pPr marL="800100" lvl="1" indent="-342900">
              <a:lnSpc>
                <a:spcPct val="150000"/>
              </a:lnSpc>
              <a:buFont typeface="Arial" panose="020B0604020202020204" pitchFamily="34" charset="0"/>
              <a:buChar char="•"/>
            </a:pPr>
            <a:r>
              <a:rPr lang="vi-VN" sz="2500" b="1"/>
              <a:t>Word2Vec:</a:t>
            </a:r>
            <a:r>
              <a:rPr lang="vi-VN" sz="2500"/>
              <a:t> Sử dụng Word Embeddings (trung bình cộng vector cho mỗi văn bản).</a:t>
            </a:r>
            <a:endParaRPr lang="en-US" sz="3500" b="1">
              <a:latin typeface="Arial" panose="020B0604020202020204" pitchFamily="34" charset="0"/>
              <a:cs typeface="Arial" panose="020B0604020202020204" pitchFamily="34" charset="0"/>
            </a:endParaRPr>
          </a:p>
          <a:p>
            <a:endParaRPr lang="en-US"/>
          </a:p>
        </p:txBody>
      </p:sp>
      <p:sp>
        <p:nvSpPr>
          <p:cNvPr id="7" name="Freeform 3">
            <a:extLst>
              <a:ext uri="{FF2B5EF4-FFF2-40B4-BE49-F238E27FC236}">
                <a16:creationId xmlns:a16="http://schemas.microsoft.com/office/drawing/2014/main" id="{1FFA8118-00B3-2182-00F9-DAEC181D7754}"/>
              </a:ext>
            </a:extLst>
          </p:cNvPr>
          <p:cNvSpPr/>
          <p:nvPr/>
        </p:nvSpPr>
        <p:spPr>
          <a:xfrm>
            <a:off x="14794388" y="8512503"/>
            <a:ext cx="3493612" cy="1759510"/>
          </a:xfrm>
          <a:custGeom>
            <a:avLst/>
            <a:gdLst/>
            <a:ahLst/>
            <a:cxnLst/>
            <a:rect l="l" t="t" r="r" b="b"/>
            <a:pathLst>
              <a:path w="3493612" h="1759510">
                <a:moveTo>
                  <a:pt x="0" y="0"/>
                </a:moveTo>
                <a:lnTo>
                  <a:pt x="3493612" y="0"/>
                </a:lnTo>
                <a:lnTo>
                  <a:pt x="3493612" y="1759510"/>
                </a:lnTo>
                <a:lnTo>
                  <a:pt x="0" y="17595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865052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1A67F-6AEA-958C-DC06-0D6AA70CA04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4903CA-6925-634E-ECC9-768127D8CF1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339D3CFB-6830-B490-F093-310E0F34476D}"/>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5" name="TextBox 4">
            <a:extLst>
              <a:ext uri="{FF2B5EF4-FFF2-40B4-BE49-F238E27FC236}">
                <a16:creationId xmlns:a16="http://schemas.microsoft.com/office/drawing/2014/main" id="{482FFC08-0DB0-A0B3-96F9-47BCE1A44A01}"/>
              </a:ext>
            </a:extLst>
          </p:cNvPr>
          <p:cNvSpPr txBox="1"/>
          <p:nvPr/>
        </p:nvSpPr>
        <p:spPr>
          <a:xfrm>
            <a:off x="304800" y="2026299"/>
            <a:ext cx="17907000" cy="1446550"/>
          </a:xfrm>
          <a:prstGeom prst="rect">
            <a:avLst/>
          </a:prstGeom>
          <a:noFill/>
        </p:spPr>
        <p:txBody>
          <a:bodyPr wrap="square" rtlCol="0">
            <a:spAutoFit/>
          </a:bodyPr>
          <a:lstStyle/>
          <a:p>
            <a:r>
              <a:rPr lang="vi-VN" sz="3500" b="1">
                <a:latin typeface="Arial" panose="020B0604020202020204" pitchFamily="34" charset="0"/>
                <a:cs typeface="Arial" panose="020B0604020202020204" pitchFamily="34" charset="0"/>
              </a:rPr>
              <a:t>Phân tích dữ liệu thăm dò</a:t>
            </a:r>
          </a:p>
          <a:p>
            <a:endParaRPr lang="en-US" sz="3500" b="1">
              <a:latin typeface="Arial" panose="020B0604020202020204" pitchFamily="34" charset="0"/>
              <a:cs typeface="Arial" panose="020B0604020202020204" pitchFamily="34" charset="0"/>
            </a:endParaRPr>
          </a:p>
          <a:p>
            <a:endParaRPr lang="en-US"/>
          </a:p>
        </p:txBody>
      </p:sp>
      <p:pic>
        <p:nvPicPr>
          <p:cNvPr id="4" name="Picture 3">
            <a:extLst>
              <a:ext uri="{FF2B5EF4-FFF2-40B4-BE49-F238E27FC236}">
                <a16:creationId xmlns:a16="http://schemas.microsoft.com/office/drawing/2014/main" id="{3846DCB2-9015-1388-E41D-AB573D2A22AA}"/>
              </a:ext>
            </a:extLst>
          </p:cNvPr>
          <p:cNvPicPr>
            <a:picLocks noChangeAspect="1"/>
          </p:cNvPicPr>
          <p:nvPr/>
        </p:nvPicPr>
        <p:blipFill>
          <a:blip r:embed="rId3"/>
          <a:stretch>
            <a:fillRect/>
          </a:stretch>
        </p:blipFill>
        <p:spPr>
          <a:xfrm>
            <a:off x="8638068" y="2705100"/>
            <a:ext cx="9526840" cy="5978843"/>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B388362F-5CB7-81D1-2B63-52EC63E568A0}"/>
              </a:ext>
            </a:extLst>
          </p:cNvPr>
          <p:cNvSpPr txBox="1"/>
          <p:nvPr/>
        </p:nvSpPr>
        <p:spPr>
          <a:xfrm>
            <a:off x="381000" y="2780593"/>
            <a:ext cx="8180868" cy="579190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500">
                <a:latin typeface="Arial" panose="020B0604020202020204" pitchFamily="34" charset="0"/>
                <a:cs typeface="Arial" panose="020B0604020202020204" pitchFamily="34" charset="0"/>
              </a:rPr>
              <a:t>Sử dụng biểu đồ để so sánh tỷ lệ bài đăng quy mô và không gian lận theo từng thuộc tính trong quá trình phân tích dữ liệu thăm dò.</a:t>
            </a:r>
            <a:endParaRPr lang="vi-VN" sz="250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vi-VN" sz="2500">
                <a:latin typeface="Arial" panose="020B0604020202020204" pitchFamily="34" charset="0"/>
                <a:cs typeface="Arial" panose="020B0604020202020204" pitchFamily="34" charset="0"/>
              </a:rPr>
              <a:t>Dựa và hình bên, ta có thể thấy dữ liệu không cân bằng.</a:t>
            </a:r>
          </a:p>
          <a:p>
            <a:pPr marL="342900" indent="-342900">
              <a:lnSpc>
                <a:spcPct val="150000"/>
              </a:lnSpc>
              <a:buFont typeface="Arial" panose="020B0604020202020204" pitchFamily="34" charset="0"/>
              <a:buChar char="•"/>
            </a:pPr>
            <a:r>
              <a:rPr lang="vi-VN" sz="2500">
                <a:latin typeface="Arial" panose="020B0604020202020204" pitchFamily="34" charset="0"/>
                <a:cs typeface="Arial" panose="020B0604020202020204" pitchFamily="34" charset="0"/>
              </a:rPr>
              <a:t>Tỷ lệ đăng không gian lận cao hơn nhiều lần so với bài đăng gian lận. </a:t>
            </a:r>
          </a:p>
          <a:p>
            <a:pPr marL="342900" indent="-342900">
              <a:lnSpc>
                <a:spcPct val="150000"/>
              </a:lnSpc>
              <a:buFont typeface="Arial" panose="020B0604020202020204" pitchFamily="34" charset="0"/>
              <a:buChar char="•"/>
            </a:pPr>
            <a:r>
              <a:rPr lang="vi-VN" sz="2500">
                <a:latin typeface="Arial" panose="020B0604020202020204" pitchFamily="34" charset="0"/>
                <a:cs typeface="Arial" panose="020B0604020202020204" pitchFamily="34" charset="0"/>
              </a:rPr>
              <a:t>Điều này phản ánh thực tế trong nền tảng mạng xã hội, nơi hầu hết bài đăng hợp pháp.</a:t>
            </a:r>
          </a:p>
          <a:p>
            <a:pPr>
              <a:lnSpc>
                <a:spcPct val="150000"/>
              </a:lnSpc>
            </a:pPr>
            <a:endParaRPr lang="en-US" sz="25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1459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4FA7B-093E-E116-EA80-1552A4233F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CBCE69-4671-10A4-BB4F-CE0079B5267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176BF414-6EDC-8F80-A1E1-320A5662D93D}"/>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5" name="TextBox 4">
            <a:extLst>
              <a:ext uri="{FF2B5EF4-FFF2-40B4-BE49-F238E27FC236}">
                <a16:creationId xmlns:a16="http://schemas.microsoft.com/office/drawing/2014/main" id="{7A64F9D1-2132-CDC4-EA34-F3D03A71CC2D}"/>
              </a:ext>
            </a:extLst>
          </p:cNvPr>
          <p:cNvSpPr txBox="1"/>
          <p:nvPr/>
        </p:nvSpPr>
        <p:spPr>
          <a:xfrm>
            <a:off x="304800" y="2026299"/>
            <a:ext cx="17907000" cy="1446550"/>
          </a:xfrm>
          <a:prstGeom prst="rect">
            <a:avLst/>
          </a:prstGeom>
          <a:noFill/>
        </p:spPr>
        <p:txBody>
          <a:bodyPr wrap="square" rtlCol="0">
            <a:spAutoFit/>
          </a:bodyPr>
          <a:lstStyle/>
          <a:p>
            <a:r>
              <a:rPr lang="vi-VN" sz="3500" b="1">
                <a:latin typeface="Arial" panose="020B0604020202020204" pitchFamily="34" charset="0"/>
                <a:cs typeface="Arial" panose="020B0604020202020204" pitchFamily="34" charset="0"/>
              </a:rPr>
              <a:t>Phân tích dữ liệu thăm dò</a:t>
            </a:r>
          </a:p>
          <a:p>
            <a:endParaRPr lang="en-US" sz="3500" b="1">
              <a:latin typeface="Arial" panose="020B0604020202020204" pitchFamily="34" charset="0"/>
              <a:cs typeface="Arial" panose="020B0604020202020204" pitchFamily="34" charset="0"/>
            </a:endParaRPr>
          </a:p>
          <a:p>
            <a:endParaRPr lang="en-US"/>
          </a:p>
        </p:txBody>
      </p:sp>
      <p:pic>
        <p:nvPicPr>
          <p:cNvPr id="7" name="Picture 6">
            <a:extLst>
              <a:ext uri="{FF2B5EF4-FFF2-40B4-BE49-F238E27FC236}">
                <a16:creationId xmlns:a16="http://schemas.microsoft.com/office/drawing/2014/main" id="{AD295115-FAA4-C727-8F0A-6EB670163AC0}"/>
              </a:ext>
            </a:extLst>
          </p:cNvPr>
          <p:cNvPicPr>
            <a:picLocks noChangeAspect="1"/>
          </p:cNvPicPr>
          <p:nvPr/>
        </p:nvPicPr>
        <p:blipFill>
          <a:blip r:embed="rId3"/>
          <a:stretch>
            <a:fillRect/>
          </a:stretch>
        </p:blipFill>
        <p:spPr>
          <a:xfrm>
            <a:off x="9144000" y="2749574"/>
            <a:ext cx="9066213" cy="6529030"/>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5D267E11-EA75-264C-3819-1A5062CC1EE2}"/>
              </a:ext>
            </a:extLst>
          </p:cNvPr>
          <p:cNvSpPr txBox="1"/>
          <p:nvPr/>
        </p:nvSpPr>
        <p:spPr>
          <a:xfrm>
            <a:off x="304799" y="2749574"/>
            <a:ext cx="8761413" cy="46468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500"/>
              <a:t>Gian lận tập trung chủ yếu vào việc làm toàn thời gian (Full-time), có lẽ vì loại hình này hấp dẫn hơn với ứng viên, dễ lừa đảo (ví dụ: hứa hẹn lương cao, ổn định).</a:t>
            </a:r>
          </a:p>
          <a:p>
            <a:pPr>
              <a:lnSpc>
                <a:spcPct val="150000"/>
              </a:lnSpc>
            </a:pPr>
            <a:endParaRPr lang="vi-VN" sz="2500"/>
          </a:p>
          <a:p>
            <a:pPr marL="342900" indent="-342900">
              <a:lnSpc>
                <a:spcPct val="150000"/>
              </a:lnSpc>
              <a:buFont typeface="Arial" panose="020B0604020202020204" pitchFamily="34" charset="0"/>
              <a:buChar char="•"/>
            </a:pPr>
            <a:r>
              <a:rPr lang="vi-VN" sz="2500"/>
              <a:t>"Not Specified" cũng phổ biến, cho thấy bài đăng mơ hồ dễ bị lợi dụng để gian lận.Rủi ro thấp: Các loại tạm thời (Temporary, Contract) hoặc khác (Other) ít bị ảnh hưởng, có thể do ít ứng viên quan tâm.</a:t>
            </a:r>
            <a:endParaRPr lang="en-US" sz="2500"/>
          </a:p>
        </p:txBody>
      </p:sp>
    </p:spTree>
    <p:extLst>
      <p:ext uri="{BB962C8B-B14F-4D97-AF65-F5344CB8AC3E}">
        <p14:creationId xmlns:p14="http://schemas.microsoft.com/office/powerpoint/2010/main" val="514821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6A78-42F4-0E99-D13C-CEF3AF6AFBE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90B33C7-4831-FDC8-26E8-0282115D967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4068F789-A73B-1727-EF09-B62637B307C1}"/>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5" name="TextBox 4">
            <a:extLst>
              <a:ext uri="{FF2B5EF4-FFF2-40B4-BE49-F238E27FC236}">
                <a16:creationId xmlns:a16="http://schemas.microsoft.com/office/drawing/2014/main" id="{159A56E5-54C7-B636-50AD-52C63534EC27}"/>
              </a:ext>
            </a:extLst>
          </p:cNvPr>
          <p:cNvSpPr txBox="1"/>
          <p:nvPr/>
        </p:nvSpPr>
        <p:spPr>
          <a:xfrm>
            <a:off x="304800" y="2026299"/>
            <a:ext cx="17907000" cy="1446550"/>
          </a:xfrm>
          <a:prstGeom prst="rect">
            <a:avLst/>
          </a:prstGeom>
          <a:noFill/>
        </p:spPr>
        <p:txBody>
          <a:bodyPr wrap="square" rtlCol="0">
            <a:spAutoFit/>
          </a:bodyPr>
          <a:lstStyle/>
          <a:p>
            <a:r>
              <a:rPr lang="vi-VN" sz="3500" b="1">
                <a:latin typeface="Arial" panose="020B0604020202020204" pitchFamily="34" charset="0"/>
                <a:cs typeface="Arial" panose="020B0604020202020204" pitchFamily="34" charset="0"/>
              </a:rPr>
              <a:t>Phân tích dữ liệu thăm dò</a:t>
            </a:r>
          </a:p>
          <a:p>
            <a:endParaRPr lang="en-US" sz="3500" b="1">
              <a:latin typeface="Arial" panose="020B0604020202020204" pitchFamily="34" charset="0"/>
              <a:cs typeface="Arial" panose="020B0604020202020204" pitchFamily="34" charset="0"/>
            </a:endParaRPr>
          </a:p>
          <a:p>
            <a:endParaRPr lang="en-US"/>
          </a:p>
        </p:txBody>
      </p:sp>
      <p:pic>
        <p:nvPicPr>
          <p:cNvPr id="4" name="Picture 3">
            <a:extLst>
              <a:ext uri="{FF2B5EF4-FFF2-40B4-BE49-F238E27FC236}">
                <a16:creationId xmlns:a16="http://schemas.microsoft.com/office/drawing/2014/main" id="{7E707F49-0AE5-F25A-8AF4-FCA29A65966C}"/>
              </a:ext>
            </a:extLst>
          </p:cNvPr>
          <p:cNvPicPr>
            <a:picLocks noChangeAspect="1"/>
          </p:cNvPicPr>
          <p:nvPr/>
        </p:nvPicPr>
        <p:blipFill>
          <a:blip r:embed="rId3"/>
          <a:stretch>
            <a:fillRect/>
          </a:stretch>
        </p:blipFill>
        <p:spPr>
          <a:xfrm>
            <a:off x="9208224" y="2544198"/>
            <a:ext cx="8937763" cy="6276975"/>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87C1DE52-8F07-CC6E-1543-B2DD5D8D2382}"/>
              </a:ext>
            </a:extLst>
          </p:cNvPr>
          <p:cNvSpPr txBox="1"/>
          <p:nvPr/>
        </p:nvSpPr>
        <p:spPr>
          <a:xfrm>
            <a:off x="228600" y="2749574"/>
            <a:ext cx="9220200" cy="60112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500"/>
              <a:t>Cột "Not Specified" cao áp đảo (hơn 400 bài), gấp đôi nhóm đứng thứ hai cho thấy kẻ lừa đảo thường cố tình để yêu cầu mơ hồ nhằm mở rộng "tệp nạn nhân". </a:t>
            </a:r>
          </a:p>
          <a:p>
            <a:pPr marL="342900" indent="-342900">
              <a:lnSpc>
                <a:spcPct val="150000"/>
              </a:lnSpc>
              <a:buFont typeface="Arial" panose="020B0604020202020204" pitchFamily="34" charset="0"/>
              <a:buChar char="•"/>
            </a:pPr>
            <a:endParaRPr lang="vi-VN" sz="2500"/>
          </a:p>
          <a:p>
            <a:pPr marL="342900" indent="-342900">
              <a:lnSpc>
                <a:spcPct val="150000"/>
              </a:lnSpc>
              <a:buFont typeface="Arial" panose="020B0604020202020204" pitchFamily="34" charset="0"/>
              <a:buChar char="•"/>
            </a:pPr>
            <a:r>
              <a:rPr lang="vi-VN" sz="2500"/>
              <a:t>Ta có thể thấy vị trí càng cao (Executive, Director), tỉ lệ lừa đảo càng thấp cho thấy </a:t>
            </a:r>
            <a:r>
              <a:rPr lang="vi-VN" sz="2800"/>
              <a:t>kẻ gian ưu tiên tiếp cận đối tượng phổ thông, thiếu kinh nghiệm để dễ dàng "sập bẫy".</a:t>
            </a:r>
            <a:endParaRPr lang="vi-VN" sz="2500"/>
          </a:p>
          <a:p>
            <a:pPr marL="342900" indent="-342900">
              <a:lnSpc>
                <a:spcPct val="150000"/>
              </a:lnSpc>
              <a:buFont typeface="Arial" panose="020B0604020202020204" pitchFamily="34" charset="0"/>
              <a:buChar char="•"/>
            </a:pPr>
            <a:endParaRPr lang="vi-VN" sz="2500"/>
          </a:p>
          <a:p>
            <a:pPr>
              <a:lnSpc>
                <a:spcPct val="150000"/>
              </a:lnSpc>
            </a:pPr>
            <a:endParaRPr lang="en-US" sz="2500"/>
          </a:p>
        </p:txBody>
      </p:sp>
    </p:spTree>
    <p:extLst>
      <p:ext uri="{BB962C8B-B14F-4D97-AF65-F5344CB8AC3E}">
        <p14:creationId xmlns:p14="http://schemas.microsoft.com/office/powerpoint/2010/main" val="1506274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D8AF5-47ED-96B9-6CE3-D50F28C908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ED50D08-3BBB-D64D-D202-577A3CBFA39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CD75FB3D-95FE-90AA-2841-4E6D64FC1B21}"/>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5" name="TextBox 4">
            <a:extLst>
              <a:ext uri="{FF2B5EF4-FFF2-40B4-BE49-F238E27FC236}">
                <a16:creationId xmlns:a16="http://schemas.microsoft.com/office/drawing/2014/main" id="{CD7F5AB0-CF55-6776-B192-04ACFF36626D}"/>
              </a:ext>
            </a:extLst>
          </p:cNvPr>
          <p:cNvSpPr txBox="1"/>
          <p:nvPr/>
        </p:nvSpPr>
        <p:spPr>
          <a:xfrm>
            <a:off x="304800" y="1562100"/>
            <a:ext cx="6248400" cy="1446550"/>
          </a:xfrm>
          <a:prstGeom prst="rect">
            <a:avLst/>
          </a:prstGeom>
          <a:noFill/>
        </p:spPr>
        <p:txBody>
          <a:bodyPr wrap="square" rtlCol="0">
            <a:spAutoFit/>
          </a:bodyPr>
          <a:lstStyle/>
          <a:p>
            <a:r>
              <a:rPr lang="vi-VN" sz="3500" b="1">
                <a:latin typeface="Arial" panose="020B0604020202020204" pitchFamily="34" charset="0"/>
                <a:cs typeface="Arial" panose="020B0604020202020204" pitchFamily="34" charset="0"/>
              </a:rPr>
              <a:t>Phân tích dữ liệu thăm dò</a:t>
            </a:r>
          </a:p>
          <a:p>
            <a:endParaRPr lang="en-US" sz="3500" b="1">
              <a:latin typeface="Arial" panose="020B0604020202020204" pitchFamily="34" charset="0"/>
              <a:cs typeface="Arial" panose="020B0604020202020204" pitchFamily="34" charset="0"/>
            </a:endParaRPr>
          </a:p>
          <a:p>
            <a:endParaRPr lang="en-US"/>
          </a:p>
        </p:txBody>
      </p:sp>
      <p:pic>
        <p:nvPicPr>
          <p:cNvPr id="6" name="Picture 5">
            <a:extLst>
              <a:ext uri="{FF2B5EF4-FFF2-40B4-BE49-F238E27FC236}">
                <a16:creationId xmlns:a16="http://schemas.microsoft.com/office/drawing/2014/main" id="{171E940F-21FA-0C2C-1CC8-8BCB3D03BF04}"/>
              </a:ext>
            </a:extLst>
          </p:cNvPr>
          <p:cNvPicPr>
            <a:picLocks noChangeAspect="1"/>
          </p:cNvPicPr>
          <p:nvPr/>
        </p:nvPicPr>
        <p:blipFill>
          <a:blip r:embed="rId3"/>
          <a:stretch>
            <a:fillRect/>
          </a:stretch>
        </p:blipFill>
        <p:spPr>
          <a:xfrm>
            <a:off x="7239000" y="1401376"/>
            <a:ext cx="10964594" cy="844303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4261C0B1-47F7-B3FD-3182-64C5FD4EC1E3}"/>
              </a:ext>
            </a:extLst>
          </p:cNvPr>
          <p:cNvSpPr txBox="1"/>
          <p:nvPr/>
        </p:nvSpPr>
        <p:spPr>
          <a:xfrm>
            <a:off x="21771" y="2380711"/>
            <a:ext cx="7455765" cy="668067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400"/>
              <a:t>Nhóm "Not Specified" (Không xác định) đứng đầu với hơn 450 bài đăng gian lận.</a:t>
            </a:r>
          </a:p>
          <a:p>
            <a:pPr marL="342900" indent="-342900">
              <a:lnSpc>
                <a:spcPct val="150000"/>
              </a:lnSpc>
              <a:buFont typeface="Arial" panose="020B0604020202020204" pitchFamily="34" charset="0"/>
              <a:buChar char="•"/>
            </a:pPr>
            <a:endParaRPr lang="vi-VN" sz="2400"/>
          </a:p>
          <a:p>
            <a:pPr marL="342900" indent="-342900">
              <a:lnSpc>
                <a:spcPct val="150000"/>
              </a:lnSpc>
              <a:buFont typeface="Arial" panose="020B0604020202020204" pitchFamily="34" charset="0"/>
              <a:buChar char="•"/>
            </a:pPr>
            <a:r>
              <a:rPr lang="vi-VN" sz="2400"/>
              <a:t>Đối tượng mục tiêu tập trung mạnh vào người có bằng Cấp 3 (High School) và Cử nhân (Bachelor).</a:t>
            </a:r>
          </a:p>
          <a:p>
            <a:pPr marL="342900" indent="-342900">
              <a:lnSpc>
                <a:spcPct val="150000"/>
              </a:lnSpc>
              <a:buFont typeface="Arial" panose="020B0604020202020204" pitchFamily="34" charset="0"/>
              <a:buChar char="•"/>
            </a:pPr>
            <a:endParaRPr lang="vi-VN" sz="2400"/>
          </a:p>
          <a:p>
            <a:pPr marL="342900" indent="-342900">
              <a:lnSpc>
                <a:spcPct val="150000"/>
              </a:lnSpc>
              <a:buFont typeface="Arial" panose="020B0604020202020204" pitchFamily="34" charset="0"/>
              <a:buChar char="•"/>
            </a:pPr>
            <a:r>
              <a:rPr lang="vi-VN" sz="2400"/>
              <a:t>Học vấn yêu cầu càng phổ thông hoặc mập mờ, nguy cơ lừa đảo càng lớn.</a:t>
            </a:r>
          </a:p>
          <a:p>
            <a:pPr marL="342900" indent="-342900">
              <a:lnSpc>
                <a:spcPct val="150000"/>
              </a:lnSpc>
              <a:buFont typeface="Arial" panose="020B0604020202020204" pitchFamily="34" charset="0"/>
              <a:buChar char="•"/>
            </a:pPr>
            <a:endParaRPr lang="vi-VN" sz="2400"/>
          </a:p>
          <a:p>
            <a:pPr marL="342900" indent="-342900">
              <a:lnSpc>
                <a:spcPct val="150000"/>
              </a:lnSpc>
              <a:buFont typeface="Arial" panose="020B0604020202020204" pitchFamily="34" charset="0"/>
              <a:buChar char="•"/>
            </a:pPr>
            <a:r>
              <a:rPr lang="vi-VN" sz="2400"/>
              <a:t>Nhóm an toàn: Các trình độ chuyên sâu (Thạc sĩ, Tiến sĩ) gần như không xuất hiện dấu hiệu gian lận.</a:t>
            </a:r>
            <a:endParaRPr lang="en-US" sz="2400"/>
          </a:p>
        </p:txBody>
      </p:sp>
    </p:spTree>
    <p:extLst>
      <p:ext uri="{BB962C8B-B14F-4D97-AF65-F5344CB8AC3E}">
        <p14:creationId xmlns:p14="http://schemas.microsoft.com/office/powerpoint/2010/main" val="1380471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2068F-5C1F-D4A7-C5C6-8EFD6EC056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E0C4BA-D53B-4166-D574-A5D2B81E0B8D}"/>
              </a:ext>
            </a:extLst>
          </p:cNvPr>
          <p:cNvSpPr/>
          <p:nvPr/>
        </p:nvSpPr>
        <p:spPr>
          <a:xfrm>
            <a:off x="18143"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1D2DACEC-EA25-7CE2-1584-5E4C67E23429}"/>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5" name="TextBox 4">
            <a:extLst>
              <a:ext uri="{FF2B5EF4-FFF2-40B4-BE49-F238E27FC236}">
                <a16:creationId xmlns:a16="http://schemas.microsoft.com/office/drawing/2014/main" id="{8996156E-AFF1-B4E3-1005-1F0B255517E7}"/>
              </a:ext>
            </a:extLst>
          </p:cNvPr>
          <p:cNvSpPr txBox="1"/>
          <p:nvPr/>
        </p:nvSpPr>
        <p:spPr>
          <a:xfrm>
            <a:off x="304800" y="2095500"/>
            <a:ext cx="6248400" cy="1446550"/>
          </a:xfrm>
          <a:prstGeom prst="rect">
            <a:avLst/>
          </a:prstGeom>
          <a:noFill/>
        </p:spPr>
        <p:txBody>
          <a:bodyPr wrap="square" rtlCol="0">
            <a:spAutoFit/>
          </a:bodyPr>
          <a:lstStyle/>
          <a:p>
            <a:r>
              <a:rPr lang="vi-VN" sz="3500" b="1">
                <a:latin typeface="Arial" panose="020B0604020202020204" pitchFamily="34" charset="0"/>
                <a:cs typeface="Arial" panose="020B0604020202020204" pitchFamily="34" charset="0"/>
              </a:rPr>
              <a:t>Phân tích dữ liệu thăm dò</a:t>
            </a:r>
          </a:p>
          <a:p>
            <a:endParaRPr lang="en-US" sz="3500" b="1">
              <a:latin typeface="Arial" panose="020B0604020202020204" pitchFamily="34" charset="0"/>
              <a:cs typeface="Arial" panose="020B0604020202020204" pitchFamily="34" charset="0"/>
            </a:endParaRPr>
          </a:p>
          <a:p>
            <a:endParaRPr lang="en-US"/>
          </a:p>
        </p:txBody>
      </p:sp>
      <p:pic>
        <p:nvPicPr>
          <p:cNvPr id="4" name="Picture 3">
            <a:extLst>
              <a:ext uri="{FF2B5EF4-FFF2-40B4-BE49-F238E27FC236}">
                <a16:creationId xmlns:a16="http://schemas.microsoft.com/office/drawing/2014/main" id="{0F0C0497-5636-670F-750E-7722ECB82540}"/>
              </a:ext>
            </a:extLst>
          </p:cNvPr>
          <p:cNvPicPr>
            <a:picLocks noChangeAspect="1"/>
          </p:cNvPicPr>
          <p:nvPr/>
        </p:nvPicPr>
        <p:blipFill>
          <a:blip r:embed="rId3"/>
          <a:stretch>
            <a:fillRect/>
          </a:stretch>
        </p:blipFill>
        <p:spPr>
          <a:xfrm>
            <a:off x="8382000" y="1246642"/>
            <a:ext cx="9753600" cy="6172200"/>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32F3D663-BAB3-2B11-B6DB-0F8AE774BF8D}"/>
              </a:ext>
            </a:extLst>
          </p:cNvPr>
          <p:cNvSpPr txBox="1"/>
          <p:nvPr/>
        </p:nvSpPr>
        <p:spPr>
          <a:xfrm>
            <a:off x="76200" y="3467100"/>
            <a:ext cx="8153400" cy="4069768"/>
          </a:xfrm>
          <a:prstGeom prst="rect">
            <a:avLst/>
          </a:prstGeom>
          <a:noFill/>
        </p:spPr>
        <p:txBody>
          <a:bodyPr wrap="square" rtlCol="0">
            <a:spAutoFit/>
          </a:bodyPr>
          <a:lstStyle/>
          <a:p>
            <a:pPr>
              <a:lnSpc>
                <a:spcPct val="150000"/>
              </a:lnSpc>
            </a:pPr>
            <a:r>
              <a:rPr lang="vi-VN" sz="2500" b="1"/>
              <a:t>Thị trường trọng điểm: </a:t>
            </a:r>
          </a:p>
          <a:p>
            <a:pPr marL="342900" indent="-342900">
              <a:lnSpc>
                <a:spcPct val="150000"/>
              </a:lnSpc>
              <a:buFont typeface="Arial" panose="020B0604020202020204" pitchFamily="34" charset="0"/>
              <a:buChar char="•"/>
            </a:pPr>
            <a:r>
              <a:rPr lang="vi-VN" sz="2500"/>
              <a:t>Mỹ (US) áp đảo hoàn toàn với hơn 700 bài đăng gian lận, bỏ xa các quốc gia còn lại.</a:t>
            </a:r>
          </a:p>
          <a:p>
            <a:pPr>
              <a:lnSpc>
                <a:spcPct val="150000"/>
              </a:lnSpc>
            </a:pPr>
            <a:r>
              <a:rPr lang="vi-VN" sz="2500" b="1"/>
              <a:t>Khu vực tiếp theo:</a:t>
            </a:r>
            <a:r>
              <a:rPr lang="vi-VN" sz="2500"/>
              <a:t> </a:t>
            </a:r>
          </a:p>
          <a:p>
            <a:pPr marL="342900" indent="-342900">
              <a:lnSpc>
                <a:spcPct val="150000"/>
              </a:lnSpc>
              <a:buFont typeface="Arial" panose="020B0604020202020204" pitchFamily="34" charset="0"/>
              <a:buChar char="•"/>
            </a:pPr>
            <a:r>
              <a:rPr lang="vi-VN" sz="2500"/>
              <a:t>Úc (AU) và Vương quốc Anh (GB) đứng vị trí thứ 2 và 3 nhưng với số lượng thấp hơn đáng kể (dưới 100 bài).</a:t>
            </a:r>
            <a:endParaRPr lang="en-US" sz="2500"/>
          </a:p>
        </p:txBody>
      </p:sp>
      <p:sp>
        <p:nvSpPr>
          <p:cNvPr id="14" name="TextBox 13">
            <a:extLst>
              <a:ext uri="{FF2B5EF4-FFF2-40B4-BE49-F238E27FC236}">
                <a16:creationId xmlns:a16="http://schemas.microsoft.com/office/drawing/2014/main" id="{BE68E045-33A1-5E51-B696-AC28C168AE1D}"/>
              </a:ext>
            </a:extLst>
          </p:cNvPr>
          <p:cNvSpPr txBox="1"/>
          <p:nvPr/>
        </p:nvSpPr>
        <p:spPr>
          <a:xfrm>
            <a:off x="76200" y="7424285"/>
            <a:ext cx="16992600" cy="176144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vi-VN" sz="2500"/>
              <a:t>Gian lận tuyển dụng trực tuyến tập trung cực kỳ mạnh mẽ tại thị trường Mỹ.</a:t>
            </a:r>
          </a:p>
          <a:p>
            <a:pPr>
              <a:lnSpc>
                <a:spcPct val="150000"/>
              </a:lnSpc>
            </a:pPr>
            <a:r>
              <a:rPr lang="vi-VN" sz="2500" b="1"/>
              <a:t>Xu hướng toàn cầu: </a:t>
            </a:r>
          </a:p>
          <a:p>
            <a:pPr>
              <a:lnSpc>
                <a:spcPct val="150000"/>
              </a:lnSpc>
            </a:pPr>
            <a:r>
              <a:rPr lang="vi-VN" sz="2500"/>
              <a:t>Các quốc gia khác (MY, CA, QA...) có số lượng bài đăng gian lận thấp hơn nhiều so với US.</a:t>
            </a:r>
            <a:endParaRPr lang="en-US" sz="2500"/>
          </a:p>
        </p:txBody>
      </p:sp>
    </p:spTree>
    <p:extLst>
      <p:ext uri="{BB962C8B-B14F-4D97-AF65-F5344CB8AC3E}">
        <p14:creationId xmlns:p14="http://schemas.microsoft.com/office/powerpoint/2010/main" val="3672801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43615-5613-A545-3FCD-1C56E86D833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578F0C-759B-FF50-220F-0C7BEE0DEA7E}"/>
              </a:ext>
            </a:extLst>
          </p:cNvPr>
          <p:cNvSpPr/>
          <p:nvPr/>
        </p:nvSpPr>
        <p:spPr>
          <a:xfrm>
            <a:off x="25259"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a:extLst>
              <a:ext uri="{FF2B5EF4-FFF2-40B4-BE49-F238E27FC236}">
                <a16:creationId xmlns:a16="http://schemas.microsoft.com/office/drawing/2014/main" id="{A969177D-633C-B58E-4AAE-CA2F2989BEA8}"/>
              </a:ext>
            </a:extLst>
          </p:cNvPr>
          <p:cNvSpPr txBox="1"/>
          <p:nvPr/>
        </p:nvSpPr>
        <p:spPr>
          <a:xfrm>
            <a:off x="990741" y="114300"/>
            <a:ext cx="16306518" cy="1040798"/>
          </a:xfrm>
          <a:prstGeom prst="rect">
            <a:avLst/>
          </a:prstGeom>
        </p:spPr>
        <p:txBody>
          <a:bodyPr wrap="square" lIns="0" tIns="0" rIns="0" bIns="0" rtlCol="0" anchor="t">
            <a:spAutoFit/>
          </a:bodyPr>
          <a:lstStyle/>
          <a:p>
            <a:pPr algn="l">
              <a:lnSpc>
                <a:spcPts val="9000"/>
              </a:lnSpc>
            </a:pPr>
            <a:r>
              <a:rPr lang="vi-VN" sz="6000" b="1">
                <a:solidFill>
                  <a:srgbClr val="000000"/>
                </a:solidFill>
                <a:latin typeface="Arial" panose="020B0604020202020204" pitchFamily="34" charset="0"/>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p:txBody>
      </p:sp>
      <p:sp>
        <p:nvSpPr>
          <p:cNvPr id="5" name="TextBox 4">
            <a:extLst>
              <a:ext uri="{FF2B5EF4-FFF2-40B4-BE49-F238E27FC236}">
                <a16:creationId xmlns:a16="http://schemas.microsoft.com/office/drawing/2014/main" id="{C02855B5-91DA-4561-35EE-76D4A6344D05}"/>
              </a:ext>
            </a:extLst>
          </p:cNvPr>
          <p:cNvSpPr txBox="1"/>
          <p:nvPr/>
        </p:nvSpPr>
        <p:spPr>
          <a:xfrm>
            <a:off x="228600" y="1409700"/>
            <a:ext cx="6248400" cy="1446550"/>
          </a:xfrm>
          <a:prstGeom prst="rect">
            <a:avLst/>
          </a:prstGeom>
          <a:noFill/>
        </p:spPr>
        <p:txBody>
          <a:bodyPr wrap="square" rtlCol="0">
            <a:spAutoFit/>
          </a:bodyPr>
          <a:lstStyle/>
          <a:p>
            <a:r>
              <a:rPr lang="vi-VN" sz="3500" b="1">
                <a:latin typeface="Arial" panose="020B0604020202020204" pitchFamily="34" charset="0"/>
                <a:cs typeface="Arial" panose="020B0604020202020204" pitchFamily="34" charset="0"/>
              </a:rPr>
              <a:t>Phân tích dữ liệu thăm dò</a:t>
            </a:r>
          </a:p>
          <a:p>
            <a:endParaRPr lang="en-US" sz="3500" b="1">
              <a:latin typeface="Arial" panose="020B0604020202020204" pitchFamily="34" charset="0"/>
              <a:cs typeface="Arial" panose="020B0604020202020204" pitchFamily="34" charset="0"/>
            </a:endParaRPr>
          </a:p>
          <a:p>
            <a:endParaRPr lang="en-US"/>
          </a:p>
        </p:txBody>
      </p:sp>
      <p:sp>
        <p:nvSpPr>
          <p:cNvPr id="11" name="TextBox 10">
            <a:extLst>
              <a:ext uri="{FF2B5EF4-FFF2-40B4-BE49-F238E27FC236}">
                <a16:creationId xmlns:a16="http://schemas.microsoft.com/office/drawing/2014/main" id="{17644741-80DD-8570-3668-4CA7E0689B5C}"/>
              </a:ext>
            </a:extLst>
          </p:cNvPr>
          <p:cNvSpPr txBox="1"/>
          <p:nvPr/>
        </p:nvSpPr>
        <p:spPr>
          <a:xfrm>
            <a:off x="152400" y="3575632"/>
            <a:ext cx="7696200" cy="609782"/>
          </a:xfrm>
          <a:prstGeom prst="rect">
            <a:avLst/>
          </a:prstGeom>
          <a:noFill/>
        </p:spPr>
        <p:txBody>
          <a:bodyPr wrap="square" rtlCol="0">
            <a:spAutoFit/>
          </a:bodyPr>
          <a:lstStyle/>
          <a:p>
            <a:pPr marL="342900" indent="-342900">
              <a:lnSpc>
                <a:spcPct val="150000"/>
              </a:lnSpc>
              <a:buFont typeface="Arial" panose="020B0604020202020204" pitchFamily="34" charset="0"/>
              <a:buChar char="•"/>
            </a:pPr>
            <a:endParaRPr lang="en-US" sz="2500"/>
          </a:p>
        </p:txBody>
      </p:sp>
      <p:pic>
        <p:nvPicPr>
          <p:cNvPr id="6" name="Picture 5">
            <a:extLst>
              <a:ext uri="{FF2B5EF4-FFF2-40B4-BE49-F238E27FC236}">
                <a16:creationId xmlns:a16="http://schemas.microsoft.com/office/drawing/2014/main" id="{E57E11BB-3561-F3DD-215E-00CD7D25B4F0}"/>
              </a:ext>
            </a:extLst>
          </p:cNvPr>
          <p:cNvPicPr>
            <a:picLocks noChangeAspect="1"/>
          </p:cNvPicPr>
          <p:nvPr/>
        </p:nvPicPr>
        <p:blipFill>
          <a:blip r:embed="rId3"/>
          <a:stretch>
            <a:fillRect/>
          </a:stretch>
        </p:blipFill>
        <p:spPr>
          <a:xfrm>
            <a:off x="8099592" y="1818631"/>
            <a:ext cx="9887236" cy="6212418"/>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C9E90036-5AA2-6072-7AE1-48FE5DF5AF7C}"/>
              </a:ext>
            </a:extLst>
          </p:cNvPr>
          <p:cNvSpPr txBox="1"/>
          <p:nvPr/>
        </p:nvSpPr>
        <p:spPr>
          <a:xfrm>
            <a:off x="228600" y="2295153"/>
            <a:ext cx="7750008" cy="5563831"/>
          </a:xfrm>
          <a:prstGeom prst="rect">
            <a:avLst/>
          </a:prstGeom>
          <a:noFill/>
        </p:spPr>
        <p:txBody>
          <a:bodyPr wrap="square" rtlCol="0">
            <a:spAutoFit/>
          </a:bodyPr>
          <a:lstStyle/>
          <a:p>
            <a:pPr>
              <a:lnSpc>
                <a:spcPct val="150000"/>
              </a:lnSpc>
            </a:pPr>
            <a:r>
              <a:rPr lang="vi-VN" sz="2400" b="1"/>
              <a:t>Nhóm ngành rủi ro cao nhất: </a:t>
            </a:r>
          </a:p>
          <a:p>
            <a:pPr marL="285750" indent="-285750">
              <a:lnSpc>
                <a:spcPct val="150000"/>
              </a:lnSpc>
              <a:buFont typeface="Arial" panose="020B0604020202020204" pitchFamily="34" charset="0"/>
              <a:buChar char="•"/>
            </a:pPr>
            <a:r>
              <a:rPr lang="vi-VN" sz="2300"/>
              <a:t>Các từ khóa liên quan đến Dầu khí &amp; Năng lượng chiếm tỷ lệ áp đảo (Petroleum, Oil gas, Oil energy, Gas industry).</a:t>
            </a:r>
          </a:p>
          <a:p>
            <a:pPr marL="285750" indent="-285750">
              <a:lnSpc>
                <a:spcPct val="150000"/>
              </a:lnSpc>
              <a:buFont typeface="Arial" panose="020B0604020202020204" pitchFamily="34" charset="0"/>
              <a:buChar char="•"/>
            </a:pPr>
            <a:r>
              <a:rPr lang="vi-VN" sz="2300"/>
              <a:t>Petroleum đứng đầu với tỷ lệ xuất hiện trong tin giả gấp 35.5 lần tin thật.</a:t>
            </a:r>
          </a:p>
          <a:p>
            <a:pPr>
              <a:lnSpc>
                <a:spcPct val="150000"/>
              </a:lnSpc>
            </a:pPr>
            <a:r>
              <a:rPr lang="vi-VN" sz="2400" b="1"/>
              <a:t>Dấu hiệu lừa đảo tuyển dụng: </a:t>
            </a:r>
          </a:p>
          <a:p>
            <a:pPr marL="285750" indent="-285750">
              <a:lnSpc>
                <a:spcPct val="150000"/>
              </a:lnSpc>
              <a:buFont typeface="Arial" panose="020B0604020202020204" pitchFamily="34" charset="0"/>
              <a:buChar char="•"/>
            </a:pPr>
            <a:r>
              <a:rPr lang="vi-VN" sz="2300"/>
              <a:t>Các công việc đòi hỏi kỹ năng thấp nhưng mô tả hấp dẫn thường là "bẫy" tin giả:Data entry (gấp 25.1 lần), Typing (gấp 20.8 lần), Clerical/Clerk (~20 lần).</a:t>
            </a:r>
          </a:p>
        </p:txBody>
      </p:sp>
      <p:sp>
        <p:nvSpPr>
          <p:cNvPr id="12" name="TextBox 11">
            <a:extLst>
              <a:ext uri="{FF2B5EF4-FFF2-40B4-BE49-F238E27FC236}">
                <a16:creationId xmlns:a16="http://schemas.microsoft.com/office/drawing/2014/main" id="{BCF9AB6D-E126-8777-563C-59A20B0037DD}"/>
              </a:ext>
            </a:extLst>
          </p:cNvPr>
          <p:cNvSpPr txBox="1"/>
          <p:nvPr/>
        </p:nvSpPr>
        <p:spPr>
          <a:xfrm>
            <a:off x="304800" y="7810500"/>
            <a:ext cx="16306518" cy="2248693"/>
          </a:xfrm>
          <a:prstGeom prst="rect">
            <a:avLst/>
          </a:prstGeom>
          <a:noFill/>
        </p:spPr>
        <p:txBody>
          <a:bodyPr wrap="square" rtlCol="0">
            <a:spAutoFit/>
          </a:bodyPr>
          <a:lstStyle/>
          <a:p>
            <a:pPr>
              <a:lnSpc>
                <a:spcPct val="150000"/>
              </a:lnSpc>
            </a:pPr>
            <a:r>
              <a:rPr lang="vi-VN" sz="2400" b="1"/>
              <a:t>Các cụm từ hứa hẹn: </a:t>
            </a:r>
          </a:p>
          <a:p>
            <a:pPr marL="285750" indent="-285750">
              <a:lnSpc>
                <a:spcPct val="150000"/>
              </a:lnSpc>
              <a:buFont typeface="Arial" panose="020B0604020202020204" pitchFamily="34" charset="0"/>
              <a:buChar char="•"/>
            </a:pPr>
            <a:r>
              <a:rPr lang="vi-VN" sz="2300"/>
              <a:t>Work home (gấp 18.5 lần), Training provided (gấp 18.9 lần).</a:t>
            </a:r>
          </a:p>
          <a:p>
            <a:pPr>
              <a:lnSpc>
                <a:spcPct val="150000"/>
              </a:lnSpc>
            </a:pPr>
            <a:r>
              <a:rPr lang="vi-VN" sz="2400" b="1"/>
              <a:t>Đặc điểm ngôn ngữ: </a:t>
            </a:r>
          </a:p>
          <a:p>
            <a:pPr marL="285750" indent="-285750">
              <a:lnSpc>
                <a:spcPct val="150000"/>
              </a:lnSpc>
              <a:buFont typeface="Arial" panose="020B0604020202020204" pitchFamily="34" charset="0"/>
              <a:buChar char="•"/>
            </a:pPr>
            <a:r>
              <a:rPr lang="vi-VN" sz="2300"/>
              <a:t>Tin giả thường sử dụng các từ khóa mang tính cam kết hoặc mời gọi như Signing (16.3x) và Encouraged (21.1x).</a:t>
            </a:r>
            <a:endParaRPr lang="en-US" sz="2300"/>
          </a:p>
        </p:txBody>
      </p:sp>
    </p:spTree>
    <p:extLst>
      <p:ext uri="{BB962C8B-B14F-4D97-AF65-F5344CB8AC3E}">
        <p14:creationId xmlns:p14="http://schemas.microsoft.com/office/powerpoint/2010/main" val="2303503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7860" y="-12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9" name="TextBox 9"/>
          <p:cNvSpPr txBox="1"/>
          <p:nvPr/>
        </p:nvSpPr>
        <p:spPr>
          <a:xfrm>
            <a:off x="609600" y="1943100"/>
            <a:ext cx="15887700" cy="7600029"/>
          </a:xfrm>
          <a:prstGeom prst="rect">
            <a:avLst/>
          </a:prstGeom>
        </p:spPr>
        <p:txBody>
          <a:bodyPr wrap="square" lIns="0" tIns="0" rIns="0" bIns="0" rtlCol="0" anchor="t">
            <a:spAutoFit/>
          </a:bodyPr>
          <a:lstStyle/>
          <a:p>
            <a:pPr>
              <a:lnSpc>
                <a:spcPct val="150000"/>
              </a:lnSpc>
            </a:pPr>
            <a:r>
              <a:rPr lang="en-US" sz="3000" b="1">
                <a:latin typeface="Arial" panose="020B0604020202020204" pitchFamily="34" charset="0"/>
                <a:cs typeface="Arial" panose="020B0604020202020204" pitchFamily="34" charset="0"/>
              </a:rPr>
              <a:t>Từ những kết quả trên ta đã có thể trả lời được câu hỏi nghiên cứu là Các cột và keyword nào ảnh hưởng mạnh đến khả năng dự đoán của mô hình</a:t>
            </a:r>
          </a:p>
          <a:p>
            <a:pPr marL="342900" indent="-342900">
              <a:lnSpc>
                <a:spcPct val="150000"/>
              </a:lnSpc>
              <a:buFont typeface="Arial" panose="020B0604020202020204" pitchFamily="34" charset="0"/>
              <a:buChar char="•"/>
            </a:pPr>
            <a:r>
              <a:rPr lang="vi-VN" sz="2500" b="1"/>
              <a:t>Dữ liệu dạng số:</a:t>
            </a:r>
            <a:r>
              <a:rPr lang="vi-VN" sz="2500"/>
              <a:t> Cột has_company có độ tương quan cao nhất với khả năng dự báo lừa đảo; ngược lại, job_id làm giảm độ chính xác của mô hình.</a:t>
            </a:r>
          </a:p>
          <a:p>
            <a:pPr marL="342900" indent="-342900">
              <a:lnSpc>
                <a:spcPct val="150000"/>
              </a:lnSpc>
              <a:buFont typeface="Arial" panose="020B0604020202020204" pitchFamily="34" charset="0"/>
              <a:buChar char="•"/>
            </a:pPr>
            <a:r>
              <a:rPr lang="vi-VN" sz="2500" b="1"/>
              <a:t>Dữ liệu dạng phân loại (Categorical):</a:t>
            </a:r>
            <a:r>
              <a:rPr lang="vi-VN" sz="2500"/>
              <a:t> Tất cả các cột thuộc nhóm này đều hỗ trợ tốt cho việc phân loại dữ liệu.</a:t>
            </a:r>
          </a:p>
          <a:p>
            <a:pPr marL="342900" indent="-342900">
              <a:lnSpc>
                <a:spcPct val="150000"/>
              </a:lnSpc>
              <a:buFont typeface="Arial" panose="020B0604020202020204" pitchFamily="34" charset="0"/>
              <a:buChar char="•"/>
            </a:pPr>
            <a:r>
              <a:rPr lang="vi-VN" sz="2500" b="1"/>
              <a:t>Dữ liệu dạng văn bản (Text):</a:t>
            </a:r>
            <a:r>
              <a:rPr lang="vi-VN" sz="2500"/>
              <a:t> * Xác định và giữ lại </a:t>
            </a:r>
            <a:r>
              <a:rPr lang="vi-VN" sz="2500" b="1"/>
              <a:t>50 stopWords</a:t>
            </a:r>
            <a:r>
              <a:rPr lang="vi-VN" sz="2500"/>
              <a:t> có ý nghĩa quan trọng để tránh làm mất thông tin mô hình.</a:t>
            </a:r>
          </a:p>
          <a:p>
            <a:pPr marL="800100" lvl="1" indent="-342900">
              <a:lnSpc>
                <a:spcPct val="150000"/>
              </a:lnSpc>
              <a:buFont typeface="Arial" panose="020B0604020202020204" pitchFamily="34" charset="0"/>
              <a:buChar char="•"/>
            </a:pPr>
            <a:r>
              <a:rPr lang="vi-VN" sz="2500" b="1"/>
              <a:t>Từ khóa (Keynote) tiêu biểu:</a:t>
            </a:r>
            <a:r>
              <a:rPr lang="vi-VN" sz="2500"/>
              <a:t> Petroleum, Oil gas, Data entry, Typing, Work home, Training provided... ảnh hưởng mạnh nhất đến kết quả dự đoán.</a:t>
            </a:r>
          </a:p>
          <a:p>
            <a:pPr marL="342900" indent="-342900">
              <a:lnSpc>
                <a:spcPct val="150000"/>
              </a:lnSpc>
              <a:buFont typeface="Arial" panose="020B0604020202020204" pitchFamily="34" charset="0"/>
              <a:buChar char="•"/>
            </a:pPr>
            <a:r>
              <a:rPr lang="vi-VN" sz="2500" b="1"/>
              <a:t>Giải pháp tối ưu:</a:t>
            </a:r>
            <a:r>
              <a:rPr lang="vi-VN" sz="2500"/>
              <a:t> Tạo thêm cột mới dựa trên sự xuất hiện của các từ khóa quan trọng (gán giá trị 1) để tăng mạnh khả năng dự đoán của mô hình.</a:t>
            </a:r>
          </a:p>
          <a:p>
            <a:pPr algn="l">
              <a:lnSpc>
                <a:spcPct val="150000"/>
              </a:lnSpc>
              <a:spcBef>
                <a:spcPct val="0"/>
              </a:spcBef>
            </a:pPr>
            <a:endParaRPr lang="en-US" sz="2099">
              <a:solidFill>
                <a:srgbClr val="000000"/>
              </a:solidFill>
              <a:latin typeface="Garet"/>
              <a:ea typeface="Garet"/>
              <a:cs typeface="Garet"/>
              <a:sym typeface="Garet"/>
            </a:endParaRPr>
          </a:p>
        </p:txBody>
      </p:sp>
      <p:sp>
        <p:nvSpPr>
          <p:cNvPr id="10" name="TextBox 9">
            <a:extLst>
              <a:ext uri="{FF2B5EF4-FFF2-40B4-BE49-F238E27FC236}">
                <a16:creationId xmlns:a16="http://schemas.microsoft.com/office/drawing/2014/main" id="{8BC98DE4-CB4F-B349-4575-C038CCEAFDF5}"/>
              </a:ext>
            </a:extLst>
          </p:cNvPr>
          <p:cNvSpPr txBox="1"/>
          <p:nvPr/>
        </p:nvSpPr>
        <p:spPr>
          <a:xfrm>
            <a:off x="952500" y="193238"/>
            <a:ext cx="16383000" cy="1292662"/>
          </a:xfrm>
          <a:prstGeom prst="rect">
            <a:avLst/>
          </a:prstGeom>
          <a:noFill/>
        </p:spPr>
        <p:txBody>
          <a:bodyPr wrap="square" rtlCol="0">
            <a:spAutoFit/>
          </a:bodyPr>
          <a:lstStyle/>
          <a:p>
            <a:r>
              <a:rPr lang="vi-VN" sz="6000" b="1">
                <a:solidFill>
                  <a:srgbClr val="000000"/>
                </a:solidFill>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70CEA-57D2-506C-7DB1-E034DFF511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C70B76-9014-15D0-F469-E598E02D0279}"/>
              </a:ext>
            </a:extLst>
          </p:cNvPr>
          <p:cNvSpPr/>
          <p:nvPr/>
        </p:nvSpPr>
        <p:spPr>
          <a:xfrm>
            <a:off x="-107860" y="-12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9" name="TextBox 9">
            <a:extLst>
              <a:ext uri="{FF2B5EF4-FFF2-40B4-BE49-F238E27FC236}">
                <a16:creationId xmlns:a16="http://schemas.microsoft.com/office/drawing/2014/main" id="{41B168D8-2ECE-4A9A-51A8-9FEDAC68654D}"/>
              </a:ext>
            </a:extLst>
          </p:cNvPr>
          <p:cNvSpPr txBox="1"/>
          <p:nvPr/>
        </p:nvSpPr>
        <p:spPr>
          <a:xfrm>
            <a:off x="304800" y="1691838"/>
            <a:ext cx="5257800" cy="741550"/>
          </a:xfrm>
          <a:prstGeom prst="rect">
            <a:avLst/>
          </a:prstGeom>
        </p:spPr>
        <p:txBody>
          <a:bodyPr wrap="square" lIns="0" tIns="0" rIns="0" bIns="0" rtlCol="0" anchor="t">
            <a:spAutoFit/>
          </a:bodyPr>
          <a:lstStyle/>
          <a:p>
            <a:pPr algn="l">
              <a:lnSpc>
                <a:spcPct val="150000"/>
              </a:lnSpc>
              <a:spcBef>
                <a:spcPct val="0"/>
              </a:spcBef>
            </a:pPr>
            <a:r>
              <a:rPr lang="vi-VN" sz="3500" b="1">
                <a:solidFill>
                  <a:srgbClr val="000000"/>
                </a:solidFill>
                <a:ea typeface="Garet"/>
                <a:cs typeface="Garet"/>
                <a:sym typeface="Garet"/>
              </a:rPr>
              <a:t>Phương pháp đề xuất</a:t>
            </a:r>
            <a:endParaRPr lang="en-US" sz="3500" b="1">
              <a:solidFill>
                <a:srgbClr val="000000"/>
              </a:solidFill>
              <a:ea typeface="Garet"/>
              <a:cs typeface="Garet"/>
              <a:sym typeface="Garet"/>
            </a:endParaRPr>
          </a:p>
        </p:txBody>
      </p:sp>
      <p:sp>
        <p:nvSpPr>
          <p:cNvPr id="10" name="TextBox 9">
            <a:extLst>
              <a:ext uri="{FF2B5EF4-FFF2-40B4-BE49-F238E27FC236}">
                <a16:creationId xmlns:a16="http://schemas.microsoft.com/office/drawing/2014/main" id="{33C9BE3C-186B-836A-4F5D-2B9FB52256D6}"/>
              </a:ext>
            </a:extLst>
          </p:cNvPr>
          <p:cNvSpPr txBox="1"/>
          <p:nvPr/>
        </p:nvSpPr>
        <p:spPr>
          <a:xfrm>
            <a:off x="952500" y="193238"/>
            <a:ext cx="16383000" cy="1292662"/>
          </a:xfrm>
          <a:prstGeom prst="rect">
            <a:avLst/>
          </a:prstGeom>
          <a:noFill/>
        </p:spPr>
        <p:txBody>
          <a:bodyPr wrap="square" rtlCol="0">
            <a:spAutoFit/>
          </a:bodyPr>
          <a:lstStyle/>
          <a:p>
            <a:r>
              <a:rPr lang="vi-VN" sz="6000" b="1">
                <a:solidFill>
                  <a:srgbClr val="000000"/>
                </a:solidFill>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3" name="TextBox 2">
            <a:extLst>
              <a:ext uri="{FF2B5EF4-FFF2-40B4-BE49-F238E27FC236}">
                <a16:creationId xmlns:a16="http://schemas.microsoft.com/office/drawing/2014/main" id="{F41A5686-75E9-4C1E-CF0A-5250ECD842DC}"/>
              </a:ext>
            </a:extLst>
          </p:cNvPr>
          <p:cNvSpPr txBox="1"/>
          <p:nvPr/>
        </p:nvSpPr>
        <p:spPr>
          <a:xfrm>
            <a:off x="609600" y="2510557"/>
            <a:ext cx="13868400" cy="3254737"/>
          </a:xfrm>
          <a:prstGeom prst="rect">
            <a:avLst/>
          </a:prstGeom>
          <a:noFill/>
        </p:spPr>
        <p:txBody>
          <a:bodyPr wrap="square" rtlCol="0">
            <a:spAutoFit/>
          </a:bodyPr>
          <a:lstStyle/>
          <a:p>
            <a:pPr>
              <a:lnSpc>
                <a:spcPct val="150000"/>
              </a:lnSpc>
            </a:pPr>
            <a:r>
              <a:rPr lang="vi-VN" sz="2500" b="1"/>
              <a:t>Quy trình nghiên cứu (4 giai đoạn):</a:t>
            </a:r>
          </a:p>
          <a:p>
            <a:pPr marL="342900" indent="-342900">
              <a:lnSpc>
                <a:spcPct val="150000"/>
              </a:lnSpc>
              <a:buFont typeface="Arial" panose="020B0604020202020204" pitchFamily="34" charset="0"/>
              <a:buChar char="•"/>
            </a:pPr>
            <a:r>
              <a:rPr lang="vi-VN" sz="2500" b="1"/>
              <a:t>Giai đoạn 1:</a:t>
            </a:r>
            <a:r>
              <a:rPr lang="vi-VN" sz="2500"/>
              <a:t> Thu thập dữ liệu.</a:t>
            </a:r>
          </a:p>
          <a:p>
            <a:pPr marL="342900" indent="-342900">
              <a:lnSpc>
                <a:spcPct val="150000"/>
              </a:lnSpc>
              <a:buFont typeface="Arial" panose="020B0604020202020204" pitchFamily="34" charset="0"/>
              <a:buChar char="•"/>
            </a:pPr>
            <a:r>
              <a:rPr lang="vi-VN" sz="2500" b="1"/>
              <a:t>Giai đoạn 2:</a:t>
            </a:r>
            <a:r>
              <a:rPr lang="vi-VN" sz="2500"/>
              <a:t> Tiền xử lý và làm sạch văn bản.</a:t>
            </a:r>
          </a:p>
          <a:p>
            <a:pPr marL="342900" indent="-342900">
              <a:lnSpc>
                <a:spcPct val="150000"/>
              </a:lnSpc>
              <a:buFont typeface="Arial" panose="020B0604020202020204" pitchFamily="34" charset="0"/>
              <a:buChar char="•"/>
            </a:pPr>
            <a:r>
              <a:rPr lang="vi-VN" sz="2500" b="1"/>
              <a:t>Giai đoạn 3:</a:t>
            </a:r>
            <a:r>
              <a:rPr lang="vi-VN" sz="2500"/>
              <a:t> Phân tích dữ liệu thăm dò (EDA) và Trích xuất đặc trưng (Feature Extraction).</a:t>
            </a:r>
          </a:p>
          <a:p>
            <a:pPr marL="342900" indent="-342900">
              <a:lnSpc>
                <a:spcPct val="150000"/>
              </a:lnSpc>
              <a:buFont typeface="Arial" panose="020B0604020202020204" pitchFamily="34" charset="0"/>
              <a:buChar char="•"/>
            </a:pPr>
            <a:r>
              <a:rPr lang="vi-VN" sz="2500" b="1"/>
              <a:t>Giai đoạn 4:</a:t>
            </a:r>
            <a:r>
              <a:rPr lang="vi-VN" sz="2500"/>
              <a:t> Huấn luyện và đánh giá mô hình.</a:t>
            </a:r>
          </a:p>
          <a:p>
            <a:endParaRPr lang="en-US"/>
          </a:p>
        </p:txBody>
      </p:sp>
      <p:sp>
        <p:nvSpPr>
          <p:cNvPr id="6" name="AutoShape 3">
            <a:extLst>
              <a:ext uri="{FF2B5EF4-FFF2-40B4-BE49-F238E27FC236}">
                <a16:creationId xmlns:a16="http://schemas.microsoft.com/office/drawing/2014/main" id="{8A830F12-1C8D-0089-EBFC-3D9DEBA020E0}"/>
              </a:ext>
            </a:extLst>
          </p:cNvPr>
          <p:cNvSpPr/>
          <p:nvPr/>
        </p:nvSpPr>
        <p:spPr>
          <a:xfrm flipV="1">
            <a:off x="107860" y="5842462"/>
            <a:ext cx="14979740" cy="43573"/>
          </a:xfrm>
          <a:prstGeom prst="line">
            <a:avLst/>
          </a:prstGeom>
          <a:ln w="76200" cap="flat">
            <a:solidFill>
              <a:srgbClr val="000000"/>
            </a:solidFill>
            <a:prstDash val="solid"/>
            <a:headEnd type="none" w="sm" len="sm"/>
            <a:tailEnd type="none" w="sm" len="sm"/>
          </a:ln>
        </p:spPr>
        <p:txBody>
          <a:bodyPr/>
          <a:lstStyle/>
          <a:p>
            <a:endParaRPr lang="en-US"/>
          </a:p>
        </p:txBody>
      </p:sp>
      <p:sp>
        <p:nvSpPr>
          <p:cNvPr id="7" name="TextBox 6">
            <a:extLst>
              <a:ext uri="{FF2B5EF4-FFF2-40B4-BE49-F238E27FC236}">
                <a16:creationId xmlns:a16="http://schemas.microsoft.com/office/drawing/2014/main" id="{1F7B902C-19C0-9BA8-F7C9-A10A498F4537}"/>
              </a:ext>
            </a:extLst>
          </p:cNvPr>
          <p:cNvSpPr txBox="1"/>
          <p:nvPr/>
        </p:nvSpPr>
        <p:spPr>
          <a:xfrm>
            <a:off x="609600" y="6319525"/>
            <a:ext cx="17068800" cy="2100575"/>
          </a:xfrm>
          <a:prstGeom prst="rect">
            <a:avLst/>
          </a:prstGeom>
          <a:noFill/>
        </p:spPr>
        <p:txBody>
          <a:bodyPr wrap="square" rtlCol="0">
            <a:spAutoFit/>
          </a:bodyPr>
          <a:lstStyle/>
          <a:p>
            <a:pPr>
              <a:lnSpc>
                <a:spcPct val="150000"/>
              </a:lnSpc>
            </a:pPr>
            <a:r>
              <a:rPr lang="vi-VN" sz="2500" b="1"/>
              <a:t>Mô hình huấn luyện:</a:t>
            </a:r>
          </a:p>
          <a:p>
            <a:pPr marL="342900" indent="-342900">
              <a:lnSpc>
                <a:spcPct val="150000"/>
              </a:lnSpc>
              <a:buFont typeface="Arial" panose="020B0604020202020204" pitchFamily="34" charset="0"/>
              <a:buChar char="•"/>
            </a:pPr>
            <a:r>
              <a:rPr lang="vi-VN" sz="2500" b="1"/>
              <a:t>Mục tiêu:</a:t>
            </a:r>
            <a:r>
              <a:rPr lang="vi-VN" sz="2500"/>
              <a:t> Phân loại tin giả (Fake News Detection).</a:t>
            </a:r>
          </a:p>
          <a:p>
            <a:pPr marL="342900" indent="-342900">
              <a:lnSpc>
                <a:spcPct val="150000"/>
              </a:lnSpc>
              <a:buFont typeface="Arial" panose="020B0604020202020204" pitchFamily="34" charset="0"/>
              <a:buChar char="•"/>
            </a:pPr>
            <a:r>
              <a:rPr lang="vi-VN" sz="2500" b="1"/>
              <a:t>Tiếp cận:</a:t>
            </a:r>
            <a:r>
              <a:rPr lang="vi-VN" sz="2500"/>
              <a:t> Sử dụng 4 nhóm thuật toán đại diện gồm Xác suất, Tuyến tính, Bagging và Boosting để tìm mô hình tối ưu.</a:t>
            </a:r>
          </a:p>
          <a:p>
            <a:endParaRPr lang="en-US"/>
          </a:p>
        </p:txBody>
      </p:sp>
    </p:spTree>
    <p:extLst>
      <p:ext uri="{BB962C8B-B14F-4D97-AF65-F5344CB8AC3E}">
        <p14:creationId xmlns:p14="http://schemas.microsoft.com/office/powerpoint/2010/main" val="2702058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C0B99-9402-4FCF-EF2D-FE1794BE48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0F7EFAC-DDB2-7C50-F23E-42482C15B790}"/>
              </a:ext>
            </a:extLst>
          </p:cNvPr>
          <p:cNvSpPr/>
          <p:nvPr/>
        </p:nvSpPr>
        <p:spPr>
          <a:xfrm>
            <a:off x="-107860" y="-12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9" name="TextBox 9">
            <a:extLst>
              <a:ext uri="{FF2B5EF4-FFF2-40B4-BE49-F238E27FC236}">
                <a16:creationId xmlns:a16="http://schemas.microsoft.com/office/drawing/2014/main" id="{CF29EFA4-36B3-85BC-9973-755BE65C40E2}"/>
              </a:ext>
            </a:extLst>
          </p:cNvPr>
          <p:cNvSpPr txBox="1"/>
          <p:nvPr/>
        </p:nvSpPr>
        <p:spPr>
          <a:xfrm>
            <a:off x="304800" y="1104900"/>
            <a:ext cx="5257800" cy="741550"/>
          </a:xfrm>
          <a:prstGeom prst="rect">
            <a:avLst/>
          </a:prstGeom>
        </p:spPr>
        <p:txBody>
          <a:bodyPr wrap="square" lIns="0" tIns="0" rIns="0" bIns="0" rtlCol="0" anchor="t">
            <a:spAutoFit/>
          </a:bodyPr>
          <a:lstStyle/>
          <a:p>
            <a:pPr algn="l">
              <a:lnSpc>
                <a:spcPct val="150000"/>
              </a:lnSpc>
              <a:spcBef>
                <a:spcPct val="0"/>
              </a:spcBef>
            </a:pPr>
            <a:r>
              <a:rPr lang="vi-VN" sz="3500" b="1">
                <a:solidFill>
                  <a:srgbClr val="000000"/>
                </a:solidFill>
                <a:ea typeface="Garet"/>
                <a:cs typeface="Garet"/>
                <a:sym typeface="Garet"/>
              </a:rPr>
              <a:t>Phương pháp đề xuất</a:t>
            </a:r>
            <a:endParaRPr lang="en-US" sz="3500" b="1">
              <a:solidFill>
                <a:srgbClr val="000000"/>
              </a:solidFill>
              <a:ea typeface="Garet"/>
              <a:cs typeface="Garet"/>
              <a:sym typeface="Garet"/>
            </a:endParaRPr>
          </a:p>
        </p:txBody>
      </p:sp>
      <p:sp>
        <p:nvSpPr>
          <p:cNvPr id="10" name="TextBox 9">
            <a:extLst>
              <a:ext uri="{FF2B5EF4-FFF2-40B4-BE49-F238E27FC236}">
                <a16:creationId xmlns:a16="http://schemas.microsoft.com/office/drawing/2014/main" id="{64D21A00-039F-80B1-5CB5-4D7590ECFFA7}"/>
              </a:ext>
            </a:extLst>
          </p:cNvPr>
          <p:cNvSpPr txBox="1"/>
          <p:nvPr/>
        </p:nvSpPr>
        <p:spPr>
          <a:xfrm>
            <a:off x="952500" y="114300"/>
            <a:ext cx="16383000" cy="1292662"/>
          </a:xfrm>
          <a:prstGeom prst="rect">
            <a:avLst/>
          </a:prstGeom>
          <a:noFill/>
        </p:spPr>
        <p:txBody>
          <a:bodyPr wrap="square" rtlCol="0">
            <a:spAutoFit/>
          </a:bodyPr>
          <a:lstStyle/>
          <a:p>
            <a:r>
              <a:rPr lang="vi-VN" sz="6000" b="1">
                <a:solidFill>
                  <a:srgbClr val="000000"/>
                </a:solidFill>
                <a:ea typeface="Archivo Black"/>
                <a:cs typeface="Arial" panose="020B0604020202020204" pitchFamily="34" charset="0"/>
                <a:sym typeface="Archivo Black"/>
              </a:rPr>
              <a:t>Chương 2: Dữ liệu và phương pháp đề xuất</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4" name="Rectangle: Rounded Corners 3">
            <a:extLst>
              <a:ext uri="{FF2B5EF4-FFF2-40B4-BE49-F238E27FC236}">
                <a16:creationId xmlns:a16="http://schemas.microsoft.com/office/drawing/2014/main" id="{9BF89703-F1C6-DC4F-3028-77FD78453CC4}"/>
              </a:ext>
            </a:extLst>
          </p:cNvPr>
          <p:cNvSpPr/>
          <p:nvPr/>
        </p:nvSpPr>
        <p:spPr>
          <a:xfrm>
            <a:off x="76200" y="1943100"/>
            <a:ext cx="4191000" cy="8991600"/>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513B650-CD8A-B1DA-8D48-437D168777F5}"/>
              </a:ext>
            </a:extLst>
          </p:cNvPr>
          <p:cNvSpPr/>
          <p:nvPr/>
        </p:nvSpPr>
        <p:spPr>
          <a:xfrm>
            <a:off x="4648200" y="1943100"/>
            <a:ext cx="4191000" cy="899160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8A3AE7B-7CC6-AF96-0D1C-1CA8E2AD0A33}"/>
              </a:ext>
            </a:extLst>
          </p:cNvPr>
          <p:cNvSpPr/>
          <p:nvPr/>
        </p:nvSpPr>
        <p:spPr>
          <a:xfrm>
            <a:off x="9220200" y="1943100"/>
            <a:ext cx="4191000" cy="899160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0FADC749-0241-2751-0073-2632D07EC211}"/>
              </a:ext>
            </a:extLst>
          </p:cNvPr>
          <p:cNvSpPr/>
          <p:nvPr/>
        </p:nvSpPr>
        <p:spPr>
          <a:xfrm>
            <a:off x="13868400" y="1943100"/>
            <a:ext cx="4191000" cy="899160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1C94AF1-D633-A114-BF1D-5A753065FC81}"/>
              </a:ext>
            </a:extLst>
          </p:cNvPr>
          <p:cNvSpPr txBox="1"/>
          <p:nvPr/>
        </p:nvSpPr>
        <p:spPr>
          <a:xfrm>
            <a:off x="457200" y="2324100"/>
            <a:ext cx="3429000" cy="6421694"/>
          </a:xfrm>
          <a:prstGeom prst="rect">
            <a:avLst/>
          </a:prstGeom>
          <a:noFill/>
        </p:spPr>
        <p:txBody>
          <a:bodyPr wrap="square" rtlCol="0">
            <a:spAutoFit/>
          </a:bodyPr>
          <a:lstStyle/>
          <a:p>
            <a:pPr algn="ctr"/>
            <a:r>
              <a:rPr lang="en-US" sz="2500" b="1">
                <a:solidFill>
                  <a:schemeClr val="bg1"/>
                </a:solidFill>
                <a:latin typeface="Arial" panose="020B0604020202020204" pitchFamily="34" charset="0"/>
                <a:cs typeface="Arial" panose="020B0604020202020204" pitchFamily="34" charset="0"/>
              </a:rPr>
              <a:t>Naive Bayes</a:t>
            </a:r>
            <a:endParaRPr lang="vi-VN" sz="2500" b="1">
              <a:solidFill>
                <a:schemeClr val="bg1"/>
              </a:solidFill>
              <a:latin typeface="Arial" panose="020B0604020202020204" pitchFamily="34" charset="0"/>
              <a:cs typeface="Arial" panose="020B0604020202020204" pitchFamily="34" charset="0"/>
            </a:endParaRPr>
          </a:p>
          <a:p>
            <a:pPr>
              <a:lnSpc>
                <a:spcPct val="150000"/>
              </a:lnSpc>
            </a:pPr>
            <a:r>
              <a:rPr lang="en-US" sz="2000" b="1">
                <a:solidFill>
                  <a:schemeClr val="bg1"/>
                </a:solidFill>
                <a:latin typeface="Arial" panose="020B0604020202020204" pitchFamily="34" charset="0"/>
                <a:cs typeface="Arial" panose="020B0604020202020204" pitchFamily="34" charset="0"/>
              </a:rPr>
              <a:t> </a:t>
            </a:r>
            <a:r>
              <a:rPr lang="vi-VN" sz="2000" b="1">
                <a:solidFill>
                  <a:schemeClr val="bg1"/>
                </a:solidFill>
                <a:latin typeface="Arial" panose="020B0604020202020204" pitchFamily="34" charset="0"/>
                <a:cs typeface="Arial" panose="020B0604020202020204" pitchFamily="34" charset="0"/>
              </a:rPr>
              <a:t>Cơ sở: </a:t>
            </a:r>
          </a:p>
          <a:p>
            <a:pPr marL="342900" indent="-342900">
              <a:lnSpc>
                <a:spcPct val="150000"/>
              </a:lnSpc>
              <a:buFont typeface="Arial" panose="020B0604020202020204" pitchFamily="34" charset="0"/>
              <a:buChar char="•"/>
            </a:pPr>
            <a:r>
              <a:rPr lang="vi-VN" sz="2000">
                <a:solidFill>
                  <a:schemeClr val="bg1"/>
                </a:solidFill>
                <a:latin typeface="Arial" panose="020B0604020202020204" pitchFamily="34" charset="0"/>
                <a:cs typeface="Arial" panose="020B0604020202020204" pitchFamily="34" charset="0"/>
              </a:rPr>
              <a:t>Thuật toán nền tảng (baseline) cho NLP, dựa trên định lý Bayes với giả định các từ độc lập.</a:t>
            </a:r>
          </a:p>
          <a:p>
            <a:pPr>
              <a:lnSpc>
                <a:spcPct val="150000"/>
              </a:lnSpc>
            </a:pPr>
            <a:r>
              <a:rPr lang="vi-VN" sz="2000" b="1">
                <a:solidFill>
                  <a:schemeClr val="bg1"/>
                </a:solidFill>
                <a:latin typeface="Arial" panose="020B0604020202020204" pitchFamily="34" charset="0"/>
                <a:cs typeface="Arial" panose="020B0604020202020204" pitchFamily="34" charset="0"/>
              </a:rPr>
              <a:t>Ưu điểm:</a:t>
            </a:r>
          </a:p>
          <a:p>
            <a:pPr marL="342900" indent="-342900">
              <a:lnSpc>
                <a:spcPct val="150000"/>
              </a:lnSpc>
              <a:buFont typeface="Arial" panose="020B0604020202020204" pitchFamily="34" charset="0"/>
              <a:buChar char="•"/>
            </a:pPr>
            <a:r>
              <a:rPr lang="vi-VN" sz="2000">
                <a:solidFill>
                  <a:schemeClr val="bg1"/>
                </a:solidFill>
                <a:latin typeface="Arial" panose="020B0604020202020204" pitchFamily="34" charset="0"/>
                <a:cs typeface="Arial" panose="020B0604020202020204" pitchFamily="34" charset="0"/>
              </a:rPr>
              <a:t>Tốc độ cực nhanh: Huấn luyện và dự đoán ít tốn tài nguyên.</a:t>
            </a:r>
          </a:p>
          <a:p>
            <a:pPr marL="342900" indent="-342900">
              <a:lnSpc>
                <a:spcPct val="150000"/>
              </a:lnSpc>
              <a:buFont typeface="Arial" panose="020B0604020202020204" pitchFamily="34" charset="0"/>
              <a:buChar char="•"/>
            </a:pPr>
            <a:r>
              <a:rPr lang="vi-VN" sz="2000">
                <a:solidFill>
                  <a:schemeClr val="bg1"/>
                </a:solidFill>
                <a:latin typeface="Arial" panose="020B0604020202020204" pitchFamily="34" charset="0"/>
                <a:cs typeface="Arial" panose="020B0604020202020204" pitchFamily="34" charset="0"/>
              </a:rPr>
              <a:t>Phù hợp văn bản: Hiệu quả với dữ liệu số chiều lớn (TF-IDF, BoW) ngay cả khi tập dữ liệu nhỏ</a:t>
            </a:r>
            <a:r>
              <a:rPr lang="vi-VN" sz="2000" b="1">
                <a:solidFill>
                  <a:schemeClr val="bg1"/>
                </a:solidFill>
                <a:latin typeface="Arial" panose="020B0604020202020204" pitchFamily="34" charset="0"/>
                <a:cs typeface="Arial" panose="020B0604020202020204" pitchFamily="34" charset="0"/>
              </a:rPr>
              <a:t>.</a:t>
            </a:r>
            <a:endParaRPr lang="en-US" sz="2000" b="1">
              <a:solidFill>
                <a:schemeClr val="bg1"/>
              </a:solidFill>
              <a:latin typeface="Arial" panose="020B0604020202020204" pitchFamily="34" charset="0"/>
              <a:cs typeface="Arial" panose="020B0604020202020204" pitchFamily="34" charset="0"/>
            </a:endParaRPr>
          </a:p>
        </p:txBody>
      </p:sp>
      <p:sp>
        <p:nvSpPr>
          <p:cNvPr id="12" name="Rectangle: Rounded Corners 11">
            <a:extLst>
              <a:ext uri="{FF2B5EF4-FFF2-40B4-BE49-F238E27FC236}">
                <a16:creationId xmlns:a16="http://schemas.microsoft.com/office/drawing/2014/main" id="{5F6785AD-B769-E4AF-C73E-577A5A0808BF}"/>
              </a:ext>
            </a:extLst>
          </p:cNvPr>
          <p:cNvSpPr/>
          <p:nvPr/>
        </p:nvSpPr>
        <p:spPr>
          <a:xfrm>
            <a:off x="4648200" y="1943100"/>
            <a:ext cx="4191000" cy="8991600"/>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59868C5-C2A0-32EE-C590-F5D53A403FE0}"/>
              </a:ext>
            </a:extLst>
          </p:cNvPr>
          <p:cNvSpPr txBox="1"/>
          <p:nvPr/>
        </p:nvSpPr>
        <p:spPr>
          <a:xfrm>
            <a:off x="5029200" y="2324100"/>
            <a:ext cx="3429000" cy="7922105"/>
          </a:xfrm>
          <a:prstGeom prst="rect">
            <a:avLst/>
          </a:prstGeom>
          <a:noFill/>
        </p:spPr>
        <p:txBody>
          <a:bodyPr wrap="square" rtlCol="0">
            <a:spAutoFit/>
          </a:bodyPr>
          <a:lstStyle/>
          <a:p>
            <a:pPr algn="ctr"/>
            <a:r>
              <a:rPr lang="en-US" sz="2500" b="1">
                <a:solidFill>
                  <a:schemeClr val="bg1"/>
                </a:solidFill>
                <a:latin typeface="Arial" panose="020B0604020202020204" pitchFamily="34" charset="0"/>
                <a:cs typeface="Arial" panose="020B0604020202020204" pitchFamily="34" charset="0"/>
              </a:rPr>
              <a:t>Logistic Regression</a:t>
            </a:r>
            <a:endParaRPr lang="vi-VN" sz="2500" b="1">
              <a:solidFill>
                <a:schemeClr val="bg1"/>
              </a:solidFill>
              <a:latin typeface="Arial" panose="020B0604020202020204" pitchFamily="34" charset="0"/>
              <a:cs typeface="Arial" panose="020B0604020202020204" pitchFamily="34" charset="0"/>
            </a:endParaRPr>
          </a:p>
          <a:p>
            <a:pPr>
              <a:lnSpc>
                <a:spcPct val="150000"/>
              </a:lnSpc>
            </a:pPr>
            <a:r>
              <a:rPr lang="en-US" sz="2500" b="1">
                <a:solidFill>
                  <a:schemeClr val="bg1"/>
                </a:solidFill>
                <a:latin typeface="Arial" panose="020B0604020202020204" pitchFamily="34" charset="0"/>
                <a:cs typeface="Arial" panose="020B0604020202020204" pitchFamily="34" charset="0"/>
              </a:rPr>
              <a:t> </a:t>
            </a:r>
            <a:r>
              <a:rPr lang="vi-VN" sz="2000" b="1">
                <a:solidFill>
                  <a:schemeClr val="bg1"/>
                </a:solidFill>
                <a:latin typeface="Arial" panose="020B0604020202020204" pitchFamily="34" charset="0"/>
                <a:cs typeface="Arial" panose="020B0604020202020204" pitchFamily="34" charset="0"/>
              </a:rPr>
              <a:t>Cơ sở: </a:t>
            </a:r>
          </a:p>
          <a:p>
            <a:pPr marL="342900" indent="-342900">
              <a:lnSpc>
                <a:spcPct val="150000"/>
              </a:lnSpc>
              <a:buFont typeface="Arial" panose="020B0604020202020204" pitchFamily="34" charset="0"/>
              <a:buChar char="•"/>
            </a:pPr>
            <a:r>
              <a:rPr lang="vi-VN" sz="2000">
                <a:solidFill>
                  <a:schemeClr val="bg1"/>
                </a:solidFill>
                <a:latin typeface="Arial" panose="020B0604020202020204" pitchFamily="34" charset="0"/>
                <a:cs typeface="Arial" panose="020B0604020202020204" pitchFamily="34" charset="0"/>
              </a:rPr>
              <a:t>Thuật toán phân loại tuyến tính mạnh mẽ. Sử dụng hàm Sigmoid để ước tính xác suất (Tin thật/giả).</a:t>
            </a:r>
          </a:p>
          <a:p>
            <a:pPr>
              <a:lnSpc>
                <a:spcPct val="150000"/>
              </a:lnSpc>
            </a:pPr>
            <a:r>
              <a:rPr lang="vi-VN" sz="2000" b="1">
                <a:solidFill>
                  <a:schemeClr val="bg1"/>
                </a:solidFill>
                <a:latin typeface="Arial" panose="020B0604020202020204" pitchFamily="34" charset="0"/>
                <a:cs typeface="Arial" panose="020B0604020202020204" pitchFamily="34" charset="0"/>
              </a:rPr>
              <a:t>Ưu điểm:</a:t>
            </a:r>
          </a:p>
          <a:p>
            <a:pPr marL="342900" indent="-342900">
              <a:lnSpc>
                <a:spcPct val="150000"/>
              </a:lnSpc>
              <a:buFont typeface="Arial" panose="020B0604020202020204" pitchFamily="34" charset="0"/>
              <a:buChar char="•"/>
            </a:pPr>
            <a:r>
              <a:rPr lang="vi-VN" sz="2000">
                <a:solidFill>
                  <a:schemeClr val="bg1"/>
                </a:solidFill>
                <a:latin typeface="Arial" panose="020B0604020202020204" pitchFamily="34" charset="0"/>
                <a:cs typeface="Arial" panose="020B0604020202020204" pitchFamily="34" charset="0"/>
              </a:rPr>
              <a:t>Dễ giải thích: Dựa vào trọng số (weights) để xác định các từ khóa quan trọng (như "breaking news").</a:t>
            </a:r>
          </a:p>
          <a:p>
            <a:pPr marL="342900" indent="-342900">
              <a:lnSpc>
                <a:spcPct val="150000"/>
              </a:lnSpc>
              <a:buFont typeface="Arial" panose="020B0604020202020204" pitchFamily="34" charset="0"/>
              <a:buChar char="•"/>
            </a:pPr>
            <a:r>
              <a:rPr lang="vi-VN" sz="2000">
                <a:solidFill>
                  <a:schemeClr val="bg1"/>
                </a:solidFill>
                <a:latin typeface="Arial" panose="020B0604020202020204" pitchFamily="34" charset="0"/>
                <a:cs typeface="Arial" panose="020B0604020202020204" pitchFamily="34" charset="0"/>
              </a:rPr>
              <a:t>Ít Overfitting: Kiểm soát tốt hiện tượng quá khớp nhờ các kỹ thuật điều chuẩn (L1/L2).</a:t>
            </a:r>
            <a:endParaRPr lang="en-US" sz="2000">
              <a:solidFill>
                <a:schemeClr val="bg1"/>
              </a:solidFill>
              <a:latin typeface="Arial" panose="020B060402020202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5E306CDD-2EAA-77B4-90F2-FB40957B5108}"/>
              </a:ext>
            </a:extLst>
          </p:cNvPr>
          <p:cNvSpPr/>
          <p:nvPr/>
        </p:nvSpPr>
        <p:spPr>
          <a:xfrm>
            <a:off x="9220200" y="1943100"/>
            <a:ext cx="4191000" cy="8991600"/>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29905E8-5FE7-BAEC-FB51-7925C9A0CBBA}"/>
              </a:ext>
            </a:extLst>
          </p:cNvPr>
          <p:cNvSpPr txBox="1"/>
          <p:nvPr/>
        </p:nvSpPr>
        <p:spPr>
          <a:xfrm>
            <a:off x="9601200" y="2324100"/>
            <a:ext cx="3429000" cy="7345024"/>
          </a:xfrm>
          <a:prstGeom prst="rect">
            <a:avLst/>
          </a:prstGeom>
          <a:noFill/>
        </p:spPr>
        <p:txBody>
          <a:bodyPr wrap="square" rtlCol="0">
            <a:spAutoFit/>
          </a:bodyPr>
          <a:lstStyle/>
          <a:p>
            <a:pPr algn="ctr"/>
            <a:r>
              <a:rPr lang="vi-VN" sz="2500" b="1">
                <a:solidFill>
                  <a:schemeClr val="bg1"/>
                </a:solidFill>
                <a:latin typeface="Arial" panose="020B0604020202020204" pitchFamily="34" charset="0"/>
                <a:cs typeface="Arial" panose="020B0604020202020204" pitchFamily="34" charset="0"/>
              </a:rPr>
              <a:t>Random Forest</a:t>
            </a:r>
          </a:p>
          <a:p>
            <a:pPr>
              <a:lnSpc>
                <a:spcPct val="150000"/>
              </a:lnSpc>
            </a:pPr>
            <a:r>
              <a:rPr lang="en-US" sz="2000" b="1">
                <a:solidFill>
                  <a:schemeClr val="bg1"/>
                </a:solidFill>
                <a:latin typeface="Arial" panose="020B0604020202020204" pitchFamily="34" charset="0"/>
                <a:cs typeface="Arial" panose="020B0604020202020204" pitchFamily="34" charset="0"/>
              </a:rPr>
              <a:t> </a:t>
            </a:r>
            <a:r>
              <a:rPr lang="vi-VN" sz="2000" b="1">
                <a:solidFill>
                  <a:schemeClr val="bg1"/>
                </a:solidFill>
                <a:latin typeface="Arial" panose="020B0604020202020204" pitchFamily="34" charset="0"/>
                <a:cs typeface="Arial" panose="020B0604020202020204" pitchFamily="34" charset="0"/>
              </a:rPr>
              <a:t>Cơ sở: </a:t>
            </a:r>
          </a:p>
          <a:p>
            <a:pPr marL="342900" indent="-342900">
              <a:lnSpc>
                <a:spcPct val="150000"/>
              </a:lnSpc>
              <a:buFont typeface="Arial" panose="020B0604020202020204" pitchFamily="34" charset="0"/>
              <a:buChar char="•"/>
            </a:pPr>
            <a:r>
              <a:rPr lang="vi-VN" sz="2000">
                <a:solidFill>
                  <a:schemeClr val="bg1"/>
                </a:solidFill>
              </a:rPr>
              <a:t>Phương pháp học kết hợp (Ensemble Learning - Bagging) dựa trên hàng trăm cây quyết định và cơ chế bỏ phiếu.</a:t>
            </a:r>
            <a:endParaRPr lang="vi-VN" sz="2000">
              <a:solidFill>
                <a:schemeClr val="bg1"/>
              </a:solidFill>
              <a:latin typeface="Arial" panose="020B0604020202020204" pitchFamily="34" charset="0"/>
              <a:cs typeface="Arial" panose="020B0604020202020204" pitchFamily="34" charset="0"/>
            </a:endParaRPr>
          </a:p>
          <a:p>
            <a:pPr>
              <a:lnSpc>
                <a:spcPct val="150000"/>
              </a:lnSpc>
            </a:pPr>
            <a:r>
              <a:rPr lang="vi-VN" sz="2000" b="1">
                <a:solidFill>
                  <a:schemeClr val="bg1"/>
                </a:solidFill>
                <a:latin typeface="Arial" panose="020B0604020202020204" pitchFamily="34" charset="0"/>
                <a:cs typeface="Arial" panose="020B0604020202020204" pitchFamily="34" charset="0"/>
              </a:rPr>
              <a:t>Ưu điểm:</a:t>
            </a:r>
          </a:p>
          <a:p>
            <a:pPr marL="342900" indent="-342900">
              <a:lnSpc>
                <a:spcPct val="150000"/>
              </a:lnSpc>
              <a:buFont typeface="Arial" panose="020B0604020202020204" pitchFamily="34" charset="0"/>
              <a:buChar char="•"/>
            </a:pPr>
            <a:r>
              <a:rPr lang="vi-VN" sz="2000" b="1">
                <a:solidFill>
                  <a:schemeClr val="bg1"/>
                </a:solidFill>
                <a:latin typeface="Arial" panose="020B0604020202020204" pitchFamily="34" charset="0"/>
                <a:cs typeface="Arial" panose="020B0604020202020204" pitchFamily="34" charset="0"/>
              </a:rPr>
              <a:t>Tính ổn định cao: </a:t>
            </a:r>
            <a:r>
              <a:rPr lang="vi-VN" sz="2000">
                <a:solidFill>
                  <a:schemeClr val="bg1"/>
                </a:solidFill>
                <a:latin typeface="Arial" panose="020B0604020202020204" pitchFamily="34" charset="0"/>
                <a:cs typeface="Arial" panose="020B0604020202020204" pitchFamily="34" charset="0"/>
              </a:rPr>
              <a:t>Giảm phương sai (Variance), hạn chế lỗi của cây quyết định đơn lẻ.</a:t>
            </a:r>
          </a:p>
          <a:p>
            <a:pPr marL="342900" indent="-342900">
              <a:lnSpc>
                <a:spcPct val="150000"/>
              </a:lnSpc>
              <a:buFont typeface="Arial" panose="020B0604020202020204" pitchFamily="34" charset="0"/>
              <a:buChar char="•"/>
            </a:pPr>
            <a:r>
              <a:rPr lang="vi-VN" sz="2000" b="1">
                <a:solidFill>
                  <a:schemeClr val="bg1"/>
                </a:solidFill>
                <a:latin typeface="Arial" panose="020B0604020202020204" pitchFamily="34" charset="0"/>
                <a:cs typeface="Arial" panose="020B0604020202020204" pitchFamily="34" charset="0"/>
              </a:rPr>
              <a:t>Xử lý phi tuyến: </a:t>
            </a:r>
            <a:r>
              <a:rPr lang="vi-VN" sz="2000">
                <a:solidFill>
                  <a:schemeClr val="bg1"/>
                </a:solidFill>
                <a:latin typeface="Arial" panose="020B0604020202020204" pitchFamily="34" charset="0"/>
                <a:cs typeface="Arial" panose="020B0604020202020204" pitchFamily="34" charset="0"/>
              </a:rPr>
              <a:t>Nắm bắt tốt các mối quan hệ phức tạp giữa các cụm từ trong văn bản.</a:t>
            </a:r>
          </a:p>
        </p:txBody>
      </p:sp>
      <p:sp>
        <p:nvSpPr>
          <p:cNvPr id="18" name="Rectangle: Rounded Corners 17">
            <a:extLst>
              <a:ext uri="{FF2B5EF4-FFF2-40B4-BE49-F238E27FC236}">
                <a16:creationId xmlns:a16="http://schemas.microsoft.com/office/drawing/2014/main" id="{44D3554B-8183-6B76-9063-2B4B3529350E}"/>
              </a:ext>
            </a:extLst>
          </p:cNvPr>
          <p:cNvSpPr/>
          <p:nvPr/>
        </p:nvSpPr>
        <p:spPr>
          <a:xfrm>
            <a:off x="13879286" y="1943100"/>
            <a:ext cx="4191000" cy="8991600"/>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66F9A90-3C8B-FDCB-8DAD-E3C9B9B5F74C}"/>
              </a:ext>
            </a:extLst>
          </p:cNvPr>
          <p:cNvSpPr txBox="1"/>
          <p:nvPr/>
        </p:nvSpPr>
        <p:spPr>
          <a:xfrm>
            <a:off x="14260286" y="2324100"/>
            <a:ext cx="3429000" cy="7345024"/>
          </a:xfrm>
          <a:prstGeom prst="rect">
            <a:avLst/>
          </a:prstGeom>
          <a:noFill/>
        </p:spPr>
        <p:txBody>
          <a:bodyPr wrap="square" rtlCol="0">
            <a:spAutoFit/>
          </a:bodyPr>
          <a:lstStyle/>
          <a:p>
            <a:pPr algn="ctr"/>
            <a:r>
              <a:rPr lang="vi-VN" sz="2500" b="1">
                <a:solidFill>
                  <a:schemeClr val="bg1"/>
                </a:solidFill>
                <a:latin typeface="Arial" panose="020B0604020202020204" pitchFamily="34" charset="0"/>
                <a:cs typeface="Arial" panose="020B0604020202020204" pitchFamily="34" charset="0"/>
              </a:rPr>
              <a:t>XGBoost</a:t>
            </a:r>
          </a:p>
          <a:p>
            <a:pPr>
              <a:lnSpc>
                <a:spcPct val="150000"/>
              </a:lnSpc>
            </a:pPr>
            <a:r>
              <a:rPr lang="en-US" sz="2000" b="1">
                <a:solidFill>
                  <a:schemeClr val="bg1"/>
                </a:solidFill>
                <a:latin typeface="Arial" panose="020B0604020202020204" pitchFamily="34" charset="0"/>
                <a:cs typeface="Arial" panose="020B0604020202020204" pitchFamily="34" charset="0"/>
              </a:rPr>
              <a:t> </a:t>
            </a:r>
            <a:r>
              <a:rPr lang="vi-VN" sz="2000" b="1">
                <a:solidFill>
                  <a:schemeClr val="bg1"/>
                </a:solidFill>
                <a:latin typeface="Arial" panose="020B0604020202020204" pitchFamily="34" charset="0"/>
                <a:cs typeface="Arial" panose="020B0604020202020204" pitchFamily="34" charset="0"/>
              </a:rPr>
              <a:t>Cơ sở: </a:t>
            </a:r>
          </a:p>
          <a:p>
            <a:pPr marL="342900" indent="-342900">
              <a:lnSpc>
                <a:spcPct val="150000"/>
              </a:lnSpc>
              <a:buFont typeface="Arial" panose="020B0604020202020204" pitchFamily="34" charset="0"/>
              <a:buChar char="•"/>
            </a:pPr>
            <a:r>
              <a:rPr lang="vi-VN" sz="2000">
                <a:solidFill>
                  <a:schemeClr val="bg1"/>
                </a:solidFill>
              </a:rPr>
              <a:t>Thuật toán thuộc nhóm Boosting tiên tiến, tối ưu hóa hàm mất mát và hỗ trợ tính toán song song.</a:t>
            </a:r>
            <a:endParaRPr lang="vi-VN" sz="2000">
              <a:solidFill>
                <a:schemeClr val="bg1"/>
              </a:solidFill>
              <a:cs typeface="Arial" panose="020B0604020202020204" pitchFamily="34" charset="0"/>
            </a:endParaRPr>
          </a:p>
          <a:p>
            <a:pPr>
              <a:lnSpc>
                <a:spcPct val="150000"/>
              </a:lnSpc>
            </a:pPr>
            <a:r>
              <a:rPr lang="vi-VN" sz="2000" b="1">
                <a:solidFill>
                  <a:schemeClr val="bg1"/>
                </a:solidFill>
                <a:latin typeface="Arial" panose="020B0604020202020204" pitchFamily="34" charset="0"/>
                <a:cs typeface="Arial" panose="020B0604020202020204" pitchFamily="34" charset="0"/>
              </a:rPr>
              <a:t>Ưu điểm:</a:t>
            </a:r>
          </a:p>
          <a:p>
            <a:pPr marL="342900" indent="-342900">
              <a:lnSpc>
                <a:spcPct val="150000"/>
              </a:lnSpc>
              <a:buFont typeface="Arial" panose="020B0604020202020204" pitchFamily="34" charset="0"/>
              <a:buChar char="•"/>
            </a:pPr>
            <a:r>
              <a:rPr lang="vi-VN" sz="2000" b="1">
                <a:solidFill>
                  <a:schemeClr val="bg1"/>
                </a:solidFill>
                <a:latin typeface="Arial" panose="020B0604020202020204" pitchFamily="34" charset="0"/>
                <a:cs typeface="Arial" panose="020B0604020202020204" pitchFamily="34" charset="0"/>
              </a:rPr>
              <a:t>Hiệu suất vượt trội</a:t>
            </a:r>
            <a:r>
              <a:rPr lang="vi-VN" sz="2000">
                <a:solidFill>
                  <a:schemeClr val="bg1"/>
                </a:solidFill>
                <a:latin typeface="Arial" panose="020B0604020202020204" pitchFamily="34" charset="0"/>
                <a:cs typeface="Arial" panose="020B0604020202020204" pitchFamily="34" charset="0"/>
              </a:rPr>
              <a:t>: Tốc độ xử lý cực nhanh nhờ tối ưu hóa phần cứng.</a:t>
            </a:r>
          </a:p>
          <a:p>
            <a:pPr marL="342900" indent="-342900">
              <a:lnSpc>
                <a:spcPct val="150000"/>
              </a:lnSpc>
              <a:buFont typeface="Arial" panose="020B0604020202020204" pitchFamily="34" charset="0"/>
              <a:buChar char="•"/>
            </a:pPr>
            <a:r>
              <a:rPr lang="vi-VN" sz="2000" b="1">
                <a:solidFill>
                  <a:schemeClr val="bg1"/>
                </a:solidFill>
                <a:latin typeface="Arial" panose="020B0604020202020204" pitchFamily="34" charset="0"/>
                <a:cs typeface="Arial" panose="020B0604020202020204" pitchFamily="34" charset="0"/>
              </a:rPr>
              <a:t>Xử lý dữ liệu nhiễu</a:t>
            </a:r>
            <a:r>
              <a:rPr lang="vi-VN" sz="2000">
                <a:solidFill>
                  <a:schemeClr val="bg1"/>
                </a:solidFill>
                <a:latin typeface="Arial" panose="020B0604020202020204" pitchFamily="34" charset="0"/>
                <a:cs typeface="Arial" panose="020B0604020202020204" pitchFamily="34" charset="0"/>
              </a:rPr>
              <a:t>: Hoạt động mạnh mẽ với dữ liệu thiếu (Missing values) hoặc mất cân bằng lớp (Imbalanced Data).</a:t>
            </a:r>
          </a:p>
        </p:txBody>
      </p:sp>
    </p:spTree>
    <p:extLst>
      <p:ext uri="{BB962C8B-B14F-4D97-AF65-F5344CB8AC3E}">
        <p14:creationId xmlns:p14="http://schemas.microsoft.com/office/powerpoint/2010/main" val="928700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2AA27-8E55-060D-E5C2-9B76E5872A1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E4D4DE-14A0-D8B7-9B6E-3052CCE6ED80}"/>
              </a:ext>
            </a:extLst>
          </p:cNvPr>
          <p:cNvSpPr/>
          <p:nvPr/>
        </p:nvSpPr>
        <p:spPr>
          <a:xfrm>
            <a:off x="-107860" y="-12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9" name="TextBox 9">
            <a:extLst>
              <a:ext uri="{FF2B5EF4-FFF2-40B4-BE49-F238E27FC236}">
                <a16:creationId xmlns:a16="http://schemas.microsoft.com/office/drawing/2014/main" id="{B0C87697-C1EB-7E9A-657C-B957E48CDB1C}"/>
              </a:ext>
            </a:extLst>
          </p:cNvPr>
          <p:cNvSpPr txBox="1"/>
          <p:nvPr/>
        </p:nvSpPr>
        <p:spPr>
          <a:xfrm>
            <a:off x="304800" y="1691838"/>
            <a:ext cx="5257800" cy="741550"/>
          </a:xfrm>
          <a:prstGeom prst="rect">
            <a:avLst/>
          </a:prstGeom>
        </p:spPr>
        <p:txBody>
          <a:bodyPr wrap="square" lIns="0" tIns="0" rIns="0" bIns="0" rtlCol="0" anchor="t">
            <a:spAutoFit/>
          </a:bodyPr>
          <a:lstStyle/>
          <a:p>
            <a:pPr algn="l">
              <a:lnSpc>
                <a:spcPct val="150000"/>
              </a:lnSpc>
              <a:spcBef>
                <a:spcPct val="0"/>
              </a:spcBef>
            </a:pPr>
            <a:r>
              <a:rPr lang="vi-VN" sz="3500" b="1">
                <a:solidFill>
                  <a:srgbClr val="000000"/>
                </a:solidFill>
                <a:ea typeface="Garet"/>
                <a:cs typeface="Garet"/>
                <a:sym typeface="Garet"/>
              </a:rPr>
              <a:t>Thiết lập thực nghiệm</a:t>
            </a:r>
            <a:endParaRPr lang="en-US" sz="3500" b="1">
              <a:solidFill>
                <a:srgbClr val="000000"/>
              </a:solidFill>
              <a:ea typeface="Garet"/>
              <a:cs typeface="Garet"/>
              <a:sym typeface="Garet"/>
            </a:endParaRPr>
          </a:p>
        </p:txBody>
      </p:sp>
      <p:sp>
        <p:nvSpPr>
          <p:cNvPr id="10" name="TextBox 9">
            <a:extLst>
              <a:ext uri="{FF2B5EF4-FFF2-40B4-BE49-F238E27FC236}">
                <a16:creationId xmlns:a16="http://schemas.microsoft.com/office/drawing/2014/main" id="{F4AA535F-59BD-880E-255A-F220CC6F1B65}"/>
              </a:ext>
            </a:extLst>
          </p:cNvPr>
          <p:cNvSpPr txBox="1"/>
          <p:nvPr/>
        </p:nvSpPr>
        <p:spPr>
          <a:xfrm>
            <a:off x="520790" y="193238"/>
            <a:ext cx="17030700" cy="1292662"/>
          </a:xfrm>
          <a:prstGeom prst="rect">
            <a:avLst/>
          </a:prstGeom>
          <a:noFill/>
        </p:spPr>
        <p:txBody>
          <a:bodyPr wrap="square" rtlCol="0">
            <a:spAutoFit/>
          </a:bodyPr>
          <a:lstStyle/>
          <a:p>
            <a:r>
              <a:rPr lang="vi-VN" sz="6000" b="1">
                <a:solidFill>
                  <a:srgbClr val="000000"/>
                </a:solidFill>
                <a:ea typeface="Archivo Black"/>
                <a:cs typeface="Arial" panose="020B0604020202020204" pitchFamily="34" charset="0"/>
                <a:sym typeface="Archivo Black"/>
              </a:rPr>
              <a:t>Chương 3: Thực nghiệm, kết quả và thảo luận</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5" name="TextBox 4">
            <a:extLst>
              <a:ext uri="{FF2B5EF4-FFF2-40B4-BE49-F238E27FC236}">
                <a16:creationId xmlns:a16="http://schemas.microsoft.com/office/drawing/2014/main" id="{BFC1982C-2229-D391-B1E7-F54D3D3E69EA}"/>
              </a:ext>
            </a:extLst>
          </p:cNvPr>
          <p:cNvSpPr txBox="1"/>
          <p:nvPr/>
        </p:nvSpPr>
        <p:spPr>
          <a:xfrm>
            <a:off x="1540886" y="7379575"/>
            <a:ext cx="6529762" cy="477054"/>
          </a:xfrm>
          <a:prstGeom prst="rect">
            <a:avLst/>
          </a:prstGeom>
          <a:noFill/>
        </p:spPr>
        <p:txBody>
          <a:bodyPr wrap="square" rtlCol="0">
            <a:spAutoFit/>
          </a:bodyPr>
          <a:lstStyle/>
          <a:p>
            <a:r>
              <a:rPr lang="vi-VN" sz="2500" i="1"/>
              <a:t>Các thư viện cần nạp để huấn luyện mô hình</a:t>
            </a:r>
            <a:endParaRPr lang="en-US" sz="2500" i="1"/>
          </a:p>
        </p:txBody>
      </p:sp>
      <p:pic>
        <p:nvPicPr>
          <p:cNvPr id="11" name="Picture 10">
            <a:extLst>
              <a:ext uri="{FF2B5EF4-FFF2-40B4-BE49-F238E27FC236}">
                <a16:creationId xmlns:a16="http://schemas.microsoft.com/office/drawing/2014/main" id="{020EA7F2-F901-10A6-E158-2FDF7A41A9F5}"/>
              </a:ext>
            </a:extLst>
          </p:cNvPr>
          <p:cNvPicPr>
            <a:picLocks noChangeAspect="1"/>
          </p:cNvPicPr>
          <p:nvPr/>
        </p:nvPicPr>
        <p:blipFill>
          <a:blip r:embed="rId3"/>
          <a:stretch>
            <a:fillRect/>
          </a:stretch>
        </p:blipFill>
        <p:spPr>
          <a:xfrm>
            <a:off x="304800" y="3594758"/>
            <a:ext cx="9001935" cy="3614077"/>
          </a:xfrm>
          <a:prstGeom prst="rect">
            <a:avLst/>
          </a:prstGeom>
        </p:spPr>
      </p:pic>
      <p:pic>
        <p:nvPicPr>
          <p:cNvPr id="12" name="Picture 11">
            <a:extLst>
              <a:ext uri="{FF2B5EF4-FFF2-40B4-BE49-F238E27FC236}">
                <a16:creationId xmlns:a16="http://schemas.microsoft.com/office/drawing/2014/main" id="{45B6D823-B702-EFC9-B0EA-FABF85BEA304}"/>
              </a:ext>
            </a:extLst>
          </p:cNvPr>
          <p:cNvPicPr>
            <a:picLocks noChangeAspect="1"/>
          </p:cNvPicPr>
          <p:nvPr/>
        </p:nvPicPr>
        <p:blipFill>
          <a:blip r:embed="rId4"/>
          <a:stretch>
            <a:fillRect/>
          </a:stretch>
        </p:blipFill>
        <p:spPr>
          <a:xfrm>
            <a:off x="11243312" y="2471612"/>
            <a:ext cx="3429000" cy="5802419"/>
          </a:xfrm>
          <a:prstGeom prst="rect">
            <a:avLst/>
          </a:prstGeom>
        </p:spPr>
      </p:pic>
      <p:sp>
        <p:nvSpPr>
          <p:cNvPr id="13" name="TextBox 12">
            <a:extLst>
              <a:ext uri="{FF2B5EF4-FFF2-40B4-BE49-F238E27FC236}">
                <a16:creationId xmlns:a16="http://schemas.microsoft.com/office/drawing/2014/main" id="{355AFE3F-A862-BE31-5007-2BDD2CC4B3B1}"/>
              </a:ext>
            </a:extLst>
          </p:cNvPr>
          <p:cNvSpPr txBox="1"/>
          <p:nvPr/>
        </p:nvSpPr>
        <p:spPr>
          <a:xfrm>
            <a:off x="11014712" y="8558584"/>
            <a:ext cx="3886200" cy="477054"/>
          </a:xfrm>
          <a:prstGeom prst="rect">
            <a:avLst/>
          </a:prstGeom>
          <a:noFill/>
        </p:spPr>
        <p:txBody>
          <a:bodyPr wrap="square" rtlCol="0">
            <a:spAutoFit/>
          </a:bodyPr>
          <a:lstStyle/>
          <a:p>
            <a:r>
              <a:rPr lang="vi-VN" sz="2500" i="1"/>
              <a:t>Kết quá sau khi tiền xử lí</a:t>
            </a:r>
            <a:endParaRPr lang="en-US" sz="2500" i="1"/>
          </a:p>
        </p:txBody>
      </p:sp>
      <p:sp>
        <p:nvSpPr>
          <p:cNvPr id="14" name="Freeform 3">
            <a:extLst>
              <a:ext uri="{FF2B5EF4-FFF2-40B4-BE49-F238E27FC236}">
                <a16:creationId xmlns:a16="http://schemas.microsoft.com/office/drawing/2014/main" id="{79F64E4B-43BF-7B49-CE87-1EB9F3545DD6}"/>
              </a:ext>
            </a:extLst>
          </p:cNvPr>
          <p:cNvSpPr/>
          <p:nvPr/>
        </p:nvSpPr>
        <p:spPr>
          <a:xfrm>
            <a:off x="-152400" y="8565590"/>
            <a:ext cx="3493612" cy="1759510"/>
          </a:xfrm>
          <a:custGeom>
            <a:avLst/>
            <a:gdLst/>
            <a:ahLst/>
            <a:cxnLst/>
            <a:rect l="l" t="t" r="r" b="b"/>
            <a:pathLst>
              <a:path w="3493612" h="1759510">
                <a:moveTo>
                  <a:pt x="0" y="0"/>
                </a:moveTo>
                <a:lnTo>
                  <a:pt x="3493612" y="0"/>
                </a:lnTo>
                <a:lnTo>
                  <a:pt x="3493612" y="1759510"/>
                </a:lnTo>
                <a:lnTo>
                  <a:pt x="0" y="17595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779138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47C76-88EC-673D-8BE3-318AA7F2461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248433-7EF6-3C99-E5F3-88FD45195D7D}"/>
              </a:ext>
            </a:extLst>
          </p:cNvPr>
          <p:cNvSpPr/>
          <p:nvPr/>
        </p:nvSpPr>
        <p:spPr>
          <a:xfrm>
            <a:off x="-107860" y="-127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9" name="TextBox 9">
            <a:extLst>
              <a:ext uri="{FF2B5EF4-FFF2-40B4-BE49-F238E27FC236}">
                <a16:creationId xmlns:a16="http://schemas.microsoft.com/office/drawing/2014/main" id="{28344187-6A9D-AB9C-4E47-47CEA320AB9D}"/>
              </a:ext>
            </a:extLst>
          </p:cNvPr>
          <p:cNvSpPr txBox="1"/>
          <p:nvPr/>
        </p:nvSpPr>
        <p:spPr>
          <a:xfrm>
            <a:off x="304800" y="1485900"/>
            <a:ext cx="5257800" cy="741550"/>
          </a:xfrm>
          <a:prstGeom prst="rect">
            <a:avLst/>
          </a:prstGeom>
        </p:spPr>
        <p:txBody>
          <a:bodyPr wrap="square" lIns="0" tIns="0" rIns="0" bIns="0" rtlCol="0" anchor="t">
            <a:spAutoFit/>
          </a:bodyPr>
          <a:lstStyle/>
          <a:p>
            <a:pPr algn="l">
              <a:lnSpc>
                <a:spcPct val="150000"/>
              </a:lnSpc>
              <a:spcBef>
                <a:spcPct val="0"/>
              </a:spcBef>
            </a:pPr>
            <a:r>
              <a:rPr lang="vi-VN" sz="3500" b="1">
                <a:solidFill>
                  <a:srgbClr val="000000"/>
                </a:solidFill>
                <a:ea typeface="Garet"/>
                <a:cs typeface="Garet"/>
                <a:sym typeface="Garet"/>
              </a:rPr>
              <a:t>Kết quả huấn luyện</a:t>
            </a:r>
            <a:endParaRPr lang="en-US" sz="3500" b="1">
              <a:solidFill>
                <a:srgbClr val="000000"/>
              </a:solidFill>
              <a:ea typeface="Garet"/>
              <a:cs typeface="Garet"/>
              <a:sym typeface="Garet"/>
            </a:endParaRPr>
          </a:p>
        </p:txBody>
      </p:sp>
      <p:sp>
        <p:nvSpPr>
          <p:cNvPr id="10" name="TextBox 9">
            <a:extLst>
              <a:ext uri="{FF2B5EF4-FFF2-40B4-BE49-F238E27FC236}">
                <a16:creationId xmlns:a16="http://schemas.microsoft.com/office/drawing/2014/main" id="{B690F3C5-3A11-F550-7E5C-70308C5AE72B}"/>
              </a:ext>
            </a:extLst>
          </p:cNvPr>
          <p:cNvSpPr txBox="1"/>
          <p:nvPr/>
        </p:nvSpPr>
        <p:spPr>
          <a:xfrm>
            <a:off x="520790" y="193238"/>
            <a:ext cx="17030700" cy="1292662"/>
          </a:xfrm>
          <a:prstGeom prst="rect">
            <a:avLst/>
          </a:prstGeom>
          <a:noFill/>
        </p:spPr>
        <p:txBody>
          <a:bodyPr wrap="square" rtlCol="0">
            <a:spAutoFit/>
          </a:bodyPr>
          <a:lstStyle/>
          <a:p>
            <a:r>
              <a:rPr lang="vi-VN" sz="6000" b="1">
                <a:solidFill>
                  <a:srgbClr val="000000"/>
                </a:solidFill>
                <a:ea typeface="Archivo Black"/>
                <a:cs typeface="Arial" panose="020B0604020202020204" pitchFamily="34" charset="0"/>
                <a:sym typeface="Archivo Black"/>
              </a:rPr>
              <a:t>Chương 3: Thực nghiệm, kết quả và thảo luận</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3" name="TextBox 2">
            <a:extLst>
              <a:ext uri="{FF2B5EF4-FFF2-40B4-BE49-F238E27FC236}">
                <a16:creationId xmlns:a16="http://schemas.microsoft.com/office/drawing/2014/main" id="{7B25CCE2-98EF-2C80-F2B4-28BE5130B12E}"/>
              </a:ext>
            </a:extLst>
          </p:cNvPr>
          <p:cNvSpPr txBox="1"/>
          <p:nvPr/>
        </p:nvSpPr>
        <p:spPr>
          <a:xfrm>
            <a:off x="2210448" y="2707501"/>
            <a:ext cx="4145926" cy="553998"/>
          </a:xfrm>
          <a:prstGeom prst="rect">
            <a:avLst/>
          </a:prstGeom>
          <a:noFill/>
        </p:spPr>
        <p:txBody>
          <a:bodyPr wrap="square" rtlCol="0">
            <a:spAutoFit/>
          </a:bodyPr>
          <a:lstStyle/>
          <a:p>
            <a:r>
              <a:rPr lang="en-US" sz="3000" b="1">
                <a:latin typeface="Arial" panose="020B0604020202020204" pitchFamily="34" charset="0"/>
                <a:cs typeface="Arial" panose="020B0604020202020204" pitchFamily="34" charset="0"/>
              </a:rPr>
              <a:t>Kết Quả Naive Bayes</a:t>
            </a:r>
          </a:p>
        </p:txBody>
      </p:sp>
      <p:pic>
        <p:nvPicPr>
          <p:cNvPr id="4" name="Picture 3">
            <a:extLst>
              <a:ext uri="{FF2B5EF4-FFF2-40B4-BE49-F238E27FC236}">
                <a16:creationId xmlns:a16="http://schemas.microsoft.com/office/drawing/2014/main" id="{BC43004A-298B-EE71-6E35-FED26C31202A}"/>
              </a:ext>
            </a:extLst>
          </p:cNvPr>
          <p:cNvPicPr>
            <a:picLocks noChangeAspect="1"/>
          </p:cNvPicPr>
          <p:nvPr/>
        </p:nvPicPr>
        <p:blipFill>
          <a:blip r:embed="rId3"/>
          <a:stretch>
            <a:fillRect/>
          </a:stretch>
        </p:blipFill>
        <p:spPr>
          <a:xfrm>
            <a:off x="514927" y="3543300"/>
            <a:ext cx="7536969" cy="4114800"/>
          </a:xfrm>
          <a:prstGeom prst="rect">
            <a:avLst/>
          </a:prstGeom>
        </p:spPr>
      </p:pic>
      <p:sp>
        <p:nvSpPr>
          <p:cNvPr id="6" name="TextBox 5">
            <a:extLst>
              <a:ext uri="{FF2B5EF4-FFF2-40B4-BE49-F238E27FC236}">
                <a16:creationId xmlns:a16="http://schemas.microsoft.com/office/drawing/2014/main" id="{58117927-026D-3CFB-0A2E-02D3FB442DFB}"/>
              </a:ext>
            </a:extLst>
          </p:cNvPr>
          <p:cNvSpPr txBox="1"/>
          <p:nvPr/>
        </p:nvSpPr>
        <p:spPr>
          <a:xfrm>
            <a:off x="11598002" y="2707501"/>
            <a:ext cx="4514272" cy="553998"/>
          </a:xfrm>
          <a:prstGeom prst="rect">
            <a:avLst/>
          </a:prstGeom>
          <a:noFill/>
        </p:spPr>
        <p:txBody>
          <a:bodyPr wrap="square" rtlCol="0">
            <a:spAutoFit/>
          </a:bodyPr>
          <a:lstStyle/>
          <a:p>
            <a:r>
              <a:rPr lang="vi-VN" sz="3000" b="1"/>
              <a:t>K</a:t>
            </a:r>
            <a:r>
              <a:rPr lang="en-US" sz="3000" b="1"/>
              <a:t>ết </a:t>
            </a:r>
            <a:r>
              <a:rPr lang="vi-VN" sz="3000" b="1"/>
              <a:t>Quả Random Forest </a:t>
            </a:r>
            <a:endParaRPr lang="en-US" sz="3000" b="1"/>
          </a:p>
        </p:txBody>
      </p:sp>
      <p:pic>
        <p:nvPicPr>
          <p:cNvPr id="7" name="Picture 6">
            <a:extLst>
              <a:ext uri="{FF2B5EF4-FFF2-40B4-BE49-F238E27FC236}">
                <a16:creationId xmlns:a16="http://schemas.microsoft.com/office/drawing/2014/main" id="{C7211896-BC02-6892-1930-6880C24745A6}"/>
              </a:ext>
            </a:extLst>
          </p:cNvPr>
          <p:cNvPicPr>
            <a:picLocks noChangeAspect="1"/>
          </p:cNvPicPr>
          <p:nvPr/>
        </p:nvPicPr>
        <p:blipFill>
          <a:blip r:embed="rId4"/>
          <a:stretch>
            <a:fillRect/>
          </a:stretch>
        </p:blipFill>
        <p:spPr>
          <a:xfrm>
            <a:off x="9940721" y="3543300"/>
            <a:ext cx="7828835" cy="4114800"/>
          </a:xfrm>
          <a:prstGeom prst="rect">
            <a:avLst/>
          </a:prstGeom>
        </p:spPr>
      </p:pic>
      <p:sp>
        <p:nvSpPr>
          <p:cNvPr id="8" name="TextBox 7">
            <a:extLst>
              <a:ext uri="{FF2B5EF4-FFF2-40B4-BE49-F238E27FC236}">
                <a16:creationId xmlns:a16="http://schemas.microsoft.com/office/drawing/2014/main" id="{FAD601F6-E323-43FB-D64A-795E7C0DF300}"/>
              </a:ext>
            </a:extLst>
          </p:cNvPr>
          <p:cNvSpPr txBox="1"/>
          <p:nvPr/>
        </p:nvSpPr>
        <p:spPr>
          <a:xfrm>
            <a:off x="514927" y="7886700"/>
            <a:ext cx="7536969" cy="1979132"/>
          </a:xfrm>
          <a:prstGeom prst="rect">
            <a:avLst/>
          </a:prstGeom>
          <a:noFill/>
        </p:spPr>
        <p:txBody>
          <a:bodyPr wrap="square" rtlCol="0">
            <a:spAutoFit/>
          </a:bodyPr>
          <a:lstStyle/>
          <a:p>
            <a:pPr>
              <a:lnSpc>
                <a:spcPct val="150000"/>
              </a:lnSpc>
            </a:pPr>
            <a:r>
              <a:rPr lang="vi-VN" sz="2100" b="1"/>
              <a:t>Naive Bayes</a:t>
            </a:r>
            <a:r>
              <a:rPr lang="vi-VN" sz="2100"/>
              <a:t>: Có độ chính xác rất cao khi dự báo gian lận (Precision 0.92) nhưng lại bỏ sót khá nhiều trường hợp thực tế khi chỉ nhận diện được hơn một nửa số ca vi phạm (Recall 0.57).</a:t>
            </a:r>
            <a:endParaRPr lang="en-US" sz="2100"/>
          </a:p>
        </p:txBody>
      </p:sp>
      <p:sp>
        <p:nvSpPr>
          <p:cNvPr id="15" name="TextBox 14">
            <a:extLst>
              <a:ext uri="{FF2B5EF4-FFF2-40B4-BE49-F238E27FC236}">
                <a16:creationId xmlns:a16="http://schemas.microsoft.com/office/drawing/2014/main" id="{541571C5-2D12-7A11-8C03-CD2B75D12F52}"/>
              </a:ext>
            </a:extLst>
          </p:cNvPr>
          <p:cNvSpPr txBox="1"/>
          <p:nvPr/>
        </p:nvSpPr>
        <p:spPr>
          <a:xfrm>
            <a:off x="10141431" y="7886700"/>
            <a:ext cx="7536969" cy="1979132"/>
          </a:xfrm>
          <a:prstGeom prst="rect">
            <a:avLst/>
          </a:prstGeom>
          <a:noFill/>
        </p:spPr>
        <p:txBody>
          <a:bodyPr wrap="square" rtlCol="0">
            <a:spAutoFit/>
          </a:bodyPr>
          <a:lstStyle/>
          <a:p>
            <a:pPr>
              <a:lnSpc>
                <a:spcPct val="150000"/>
              </a:lnSpc>
            </a:pPr>
            <a:r>
              <a:rPr lang="vi-VN" sz="2100" b="1"/>
              <a:t>Random Forest:</a:t>
            </a:r>
            <a:r>
              <a:rPr lang="vi-VN" sz="2100"/>
              <a:t> Đạt được sự cân bằng khá tốt giữa việc nhận diện đúng gian lận và hạn chế sai sót với F1-score là 0.79, đi kèm chỉ số AUPRC ở mức khá (0.8619) cho bài toán Fraud.</a:t>
            </a:r>
            <a:endParaRPr lang="en-US" sz="2100"/>
          </a:p>
        </p:txBody>
      </p:sp>
    </p:spTree>
    <p:extLst>
      <p:ext uri="{BB962C8B-B14F-4D97-AF65-F5344CB8AC3E}">
        <p14:creationId xmlns:p14="http://schemas.microsoft.com/office/powerpoint/2010/main" val="2481988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95309-5AAD-3DD6-A7B2-5FCC436E70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169CD1A-3BB5-7AEB-BD37-85FF9A785F34}"/>
              </a:ext>
            </a:extLst>
          </p:cNvPr>
          <p:cNvSpPr/>
          <p:nvPr/>
        </p:nvSpPr>
        <p:spPr>
          <a:xfrm>
            <a:off x="-10786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9" name="TextBox 9">
            <a:extLst>
              <a:ext uri="{FF2B5EF4-FFF2-40B4-BE49-F238E27FC236}">
                <a16:creationId xmlns:a16="http://schemas.microsoft.com/office/drawing/2014/main" id="{C6BE7654-3B75-FD7A-D7F3-AC3030A35863}"/>
              </a:ext>
            </a:extLst>
          </p:cNvPr>
          <p:cNvSpPr txBox="1"/>
          <p:nvPr/>
        </p:nvSpPr>
        <p:spPr>
          <a:xfrm>
            <a:off x="304800" y="1485900"/>
            <a:ext cx="5257800" cy="741550"/>
          </a:xfrm>
          <a:prstGeom prst="rect">
            <a:avLst/>
          </a:prstGeom>
        </p:spPr>
        <p:txBody>
          <a:bodyPr wrap="square" lIns="0" tIns="0" rIns="0" bIns="0" rtlCol="0" anchor="t">
            <a:spAutoFit/>
          </a:bodyPr>
          <a:lstStyle/>
          <a:p>
            <a:pPr algn="l">
              <a:lnSpc>
                <a:spcPct val="150000"/>
              </a:lnSpc>
              <a:spcBef>
                <a:spcPct val="0"/>
              </a:spcBef>
            </a:pPr>
            <a:r>
              <a:rPr lang="vi-VN" sz="3500" b="1">
                <a:solidFill>
                  <a:srgbClr val="000000"/>
                </a:solidFill>
                <a:ea typeface="Garet"/>
                <a:cs typeface="Garet"/>
                <a:sym typeface="Garet"/>
              </a:rPr>
              <a:t>Kết quả huấn luyện</a:t>
            </a:r>
            <a:endParaRPr lang="en-US" sz="3500" b="1">
              <a:solidFill>
                <a:srgbClr val="000000"/>
              </a:solidFill>
              <a:ea typeface="Garet"/>
              <a:cs typeface="Garet"/>
              <a:sym typeface="Garet"/>
            </a:endParaRPr>
          </a:p>
        </p:txBody>
      </p:sp>
      <p:sp>
        <p:nvSpPr>
          <p:cNvPr id="10" name="TextBox 9">
            <a:extLst>
              <a:ext uri="{FF2B5EF4-FFF2-40B4-BE49-F238E27FC236}">
                <a16:creationId xmlns:a16="http://schemas.microsoft.com/office/drawing/2014/main" id="{7EFB3F07-F898-72B2-56FC-FE97EAEFDD47}"/>
              </a:ext>
            </a:extLst>
          </p:cNvPr>
          <p:cNvSpPr txBox="1"/>
          <p:nvPr/>
        </p:nvSpPr>
        <p:spPr>
          <a:xfrm>
            <a:off x="520790" y="193238"/>
            <a:ext cx="17030700" cy="1292662"/>
          </a:xfrm>
          <a:prstGeom prst="rect">
            <a:avLst/>
          </a:prstGeom>
          <a:noFill/>
        </p:spPr>
        <p:txBody>
          <a:bodyPr wrap="square" rtlCol="0">
            <a:spAutoFit/>
          </a:bodyPr>
          <a:lstStyle/>
          <a:p>
            <a:r>
              <a:rPr lang="vi-VN" sz="6000" b="1">
                <a:solidFill>
                  <a:srgbClr val="000000"/>
                </a:solidFill>
                <a:ea typeface="Archivo Black"/>
                <a:cs typeface="Arial" panose="020B0604020202020204" pitchFamily="34" charset="0"/>
                <a:sym typeface="Archivo Black"/>
              </a:rPr>
              <a:t>Chương 3: Thực nghiệm, kết quả và thảo luận</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3" name="TextBox 2">
            <a:extLst>
              <a:ext uri="{FF2B5EF4-FFF2-40B4-BE49-F238E27FC236}">
                <a16:creationId xmlns:a16="http://schemas.microsoft.com/office/drawing/2014/main" id="{DC464729-D66F-AF43-EE41-0AEBFD026ECF}"/>
              </a:ext>
            </a:extLst>
          </p:cNvPr>
          <p:cNvSpPr txBox="1"/>
          <p:nvPr/>
        </p:nvSpPr>
        <p:spPr>
          <a:xfrm>
            <a:off x="2988011" y="2704553"/>
            <a:ext cx="2590799" cy="553998"/>
          </a:xfrm>
          <a:prstGeom prst="rect">
            <a:avLst/>
          </a:prstGeom>
          <a:noFill/>
        </p:spPr>
        <p:txBody>
          <a:bodyPr wrap="square" rtlCol="0">
            <a:spAutoFit/>
          </a:bodyPr>
          <a:lstStyle/>
          <a:p>
            <a:r>
              <a:rPr lang="en-US" sz="3000" b="1">
                <a:latin typeface="Arial" panose="020B0604020202020204" pitchFamily="34" charset="0"/>
                <a:cs typeface="Arial" panose="020B0604020202020204" pitchFamily="34" charset="0"/>
              </a:rPr>
              <a:t>Kết Quả </a:t>
            </a:r>
            <a:r>
              <a:rPr lang="vi-VN" sz="3000" b="1">
                <a:latin typeface="Arial" panose="020B0604020202020204" pitchFamily="34" charset="0"/>
                <a:cs typeface="Arial" panose="020B0604020202020204" pitchFamily="34" charset="0"/>
              </a:rPr>
              <a:t>XGB</a:t>
            </a:r>
            <a:endParaRPr lang="en-US" sz="3000" b="1">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7259B5D-D9BF-65F0-F641-818CAB42739A}"/>
              </a:ext>
            </a:extLst>
          </p:cNvPr>
          <p:cNvSpPr txBox="1"/>
          <p:nvPr/>
        </p:nvSpPr>
        <p:spPr>
          <a:xfrm>
            <a:off x="11035738" y="2707501"/>
            <a:ext cx="5638800" cy="553998"/>
          </a:xfrm>
          <a:prstGeom prst="rect">
            <a:avLst/>
          </a:prstGeom>
          <a:noFill/>
        </p:spPr>
        <p:txBody>
          <a:bodyPr wrap="square" rtlCol="0">
            <a:spAutoFit/>
          </a:bodyPr>
          <a:lstStyle/>
          <a:p>
            <a:r>
              <a:rPr lang="en-US" sz="3000" b="1">
                <a:latin typeface="Arial" panose="020B0604020202020204" pitchFamily="34" charset="0"/>
                <a:cs typeface="Arial" panose="020B0604020202020204" pitchFamily="34" charset="0"/>
              </a:rPr>
              <a:t>Kết </a:t>
            </a:r>
            <a:r>
              <a:rPr lang="vi-VN" sz="3000" b="1">
                <a:latin typeface="Arial" panose="020B0604020202020204" pitchFamily="34" charset="0"/>
                <a:cs typeface="Arial" panose="020B0604020202020204" pitchFamily="34" charset="0"/>
              </a:rPr>
              <a:t>Quả Logisti</a:t>
            </a:r>
            <a:r>
              <a:rPr lang="en-US" sz="3000" b="1">
                <a:latin typeface="Arial" panose="020B0604020202020204" pitchFamily="34" charset="0"/>
                <a:cs typeface="Arial" panose="020B0604020202020204" pitchFamily="34" charset="0"/>
              </a:rPr>
              <a:t>cs </a:t>
            </a:r>
            <a:r>
              <a:rPr lang="vi-VN" sz="3000" b="1">
                <a:latin typeface="Arial" panose="020B0604020202020204" pitchFamily="34" charset="0"/>
                <a:cs typeface="Arial" panose="020B0604020202020204" pitchFamily="34" charset="0"/>
              </a:rPr>
              <a:t>Regression</a:t>
            </a:r>
            <a:endParaRPr lang="en-US" sz="3000" b="1">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84BD8A5-29C2-EC44-78DE-14A85C38D16E}"/>
              </a:ext>
            </a:extLst>
          </p:cNvPr>
          <p:cNvPicPr>
            <a:picLocks noChangeAspect="1"/>
          </p:cNvPicPr>
          <p:nvPr/>
        </p:nvPicPr>
        <p:blipFill>
          <a:blip r:embed="rId3"/>
          <a:stretch>
            <a:fillRect/>
          </a:stretch>
        </p:blipFill>
        <p:spPr>
          <a:xfrm>
            <a:off x="523133" y="3501941"/>
            <a:ext cx="7865106" cy="4118479"/>
          </a:xfrm>
          <a:prstGeom prst="rect">
            <a:avLst/>
          </a:prstGeom>
        </p:spPr>
      </p:pic>
      <p:pic>
        <p:nvPicPr>
          <p:cNvPr id="8" name="Picture 7">
            <a:extLst>
              <a:ext uri="{FF2B5EF4-FFF2-40B4-BE49-F238E27FC236}">
                <a16:creationId xmlns:a16="http://schemas.microsoft.com/office/drawing/2014/main" id="{39937734-CD4C-190F-5DC6-C1569B28C740}"/>
              </a:ext>
            </a:extLst>
          </p:cNvPr>
          <p:cNvPicPr>
            <a:picLocks noChangeAspect="1"/>
          </p:cNvPicPr>
          <p:nvPr/>
        </p:nvPicPr>
        <p:blipFill>
          <a:blip r:embed="rId4"/>
          <a:stretch>
            <a:fillRect/>
          </a:stretch>
        </p:blipFill>
        <p:spPr>
          <a:xfrm>
            <a:off x="9899763" y="3390900"/>
            <a:ext cx="8053440" cy="4229520"/>
          </a:xfrm>
          <a:prstGeom prst="rect">
            <a:avLst/>
          </a:prstGeom>
        </p:spPr>
      </p:pic>
      <p:sp>
        <p:nvSpPr>
          <p:cNvPr id="11" name="TextBox 10">
            <a:extLst>
              <a:ext uri="{FF2B5EF4-FFF2-40B4-BE49-F238E27FC236}">
                <a16:creationId xmlns:a16="http://schemas.microsoft.com/office/drawing/2014/main" id="{F8E6D32D-AA30-4C38-56F5-9284525FABAF}"/>
              </a:ext>
            </a:extLst>
          </p:cNvPr>
          <p:cNvSpPr txBox="1"/>
          <p:nvPr/>
        </p:nvSpPr>
        <p:spPr>
          <a:xfrm>
            <a:off x="533400" y="7827498"/>
            <a:ext cx="7865106" cy="1494383"/>
          </a:xfrm>
          <a:prstGeom prst="rect">
            <a:avLst/>
          </a:prstGeom>
          <a:noFill/>
        </p:spPr>
        <p:txBody>
          <a:bodyPr wrap="square" rtlCol="0">
            <a:spAutoFit/>
          </a:bodyPr>
          <a:lstStyle/>
          <a:p>
            <a:pPr>
              <a:lnSpc>
                <a:spcPct val="150000"/>
              </a:lnSpc>
            </a:pPr>
            <a:r>
              <a:rPr lang="vi-VN" sz="2100" b="1"/>
              <a:t>XGBoost:</a:t>
            </a:r>
            <a:r>
              <a:rPr lang="vi-VN" sz="2100"/>
              <a:t> Hiệu suất cực kỳ ấn tượng với độ chính xác cao (Precision 0.91) cho lớp gian lận, giúp giảm thiểu tối đa các cảnh báo giả trong khi vẫn duy trì chỉ số AUPRC xuất sắc (0.9446).</a:t>
            </a:r>
            <a:endParaRPr lang="en-US" sz="2100"/>
          </a:p>
        </p:txBody>
      </p:sp>
      <p:sp>
        <p:nvSpPr>
          <p:cNvPr id="12" name="TextBox 11">
            <a:extLst>
              <a:ext uri="{FF2B5EF4-FFF2-40B4-BE49-F238E27FC236}">
                <a16:creationId xmlns:a16="http://schemas.microsoft.com/office/drawing/2014/main" id="{77B4AD1B-2981-600E-5E2A-52785863A930}"/>
              </a:ext>
            </a:extLst>
          </p:cNvPr>
          <p:cNvSpPr txBox="1"/>
          <p:nvPr/>
        </p:nvSpPr>
        <p:spPr>
          <a:xfrm>
            <a:off x="9993930" y="7830429"/>
            <a:ext cx="7865106" cy="2048381"/>
          </a:xfrm>
          <a:prstGeom prst="rect">
            <a:avLst/>
          </a:prstGeom>
          <a:noFill/>
        </p:spPr>
        <p:txBody>
          <a:bodyPr wrap="square" rtlCol="0">
            <a:spAutoFit/>
          </a:bodyPr>
          <a:lstStyle/>
          <a:p>
            <a:pPr>
              <a:lnSpc>
                <a:spcPct val="150000"/>
              </a:lnSpc>
            </a:pPr>
            <a:r>
              <a:rPr lang="vi-VN" sz="2100" b="1"/>
              <a:t>Logistic Regression:</a:t>
            </a:r>
            <a:r>
              <a:rPr lang="vi-VN" sz="2100"/>
              <a:t> Khả năng bắt lỗi rất tốt (Recall 0.90), tuy nhiên tỷ lệ dương tính giả còn cao (Precision chỉ 0.67), khiến mô hình này phù hợp hơn nếu ưu tiên không bỏ sót gian lận bất kể sai số.</a:t>
            </a:r>
            <a:endParaRPr lang="en-US" sz="2100"/>
          </a:p>
        </p:txBody>
      </p:sp>
    </p:spTree>
    <p:extLst>
      <p:ext uri="{BB962C8B-B14F-4D97-AF65-F5344CB8AC3E}">
        <p14:creationId xmlns:p14="http://schemas.microsoft.com/office/powerpoint/2010/main" val="2060344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DAC9B-3E19-7A1B-92C0-A61D304DD2B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886EB6-0BB1-4ACC-4867-B63970581D96}"/>
              </a:ext>
            </a:extLst>
          </p:cNvPr>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10" name="TextBox 9">
            <a:extLst>
              <a:ext uri="{FF2B5EF4-FFF2-40B4-BE49-F238E27FC236}">
                <a16:creationId xmlns:a16="http://schemas.microsoft.com/office/drawing/2014/main" id="{92B00D05-268A-5DF2-50EA-91D0F9ECCB3D}"/>
              </a:ext>
            </a:extLst>
          </p:cNvPr>
          <p:cNvSpPr txBox="1"/>
          <p:nvPr/>
        </p:nvSpPr>
        <p:spPr>
          <a:xfrm>
            <a:off x="520790" y="193238"/>
            <a:ext cx="17030700" cy="1292662"/>
          </a:xfrm>
          <a:prstGeom prst="rect">
            <a:avLst/>
          </a:prstGeom>
          <a:noFill/>
        </p:spPr>
        <p:txBody>
          <a:bodyPr wrap="square" rtlCol="0">
            <a:spAutoFit/>
          </a:bodyPr>
          <a:lstStyle/>
          <a:p>
            <a:r>
              <a:rPr lang="vi-VN" sz="6000" b="1">
                <a:solidFill>
                  <a:srgbClr val="000000"/>
                </a:solidFill>
                <a:ea typeface="Archivo Black"/>
                <a:cs typeface="Arial" panose="020B0604020202020204" pitchFamily="34" charset="0"/>
                <a:sym typeface="Archivo Black"/>
              </a:rPr>
              <a:t>Chương 3: Thực nghiệm, kết quả và thảo luận</a:t>
            </a:r>
            <a:endParaRPr lang="en-US" sz="60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4" name="TextBox 3">
            <a:extLst>
              <a:ext uri="{FF2B5EF4-FFF2-40B4-BE49-F238E27FC236}">
                <a16:creationId xmlns:a16="http://schemas.microsoft.com/office/drawing/2014/main" id="{C65C2B62-BD99-833C-A9FB-AB858B8BE906}"/>
              </a:ext>
            </a:extLst>
          </p:cNvPr>
          <p:cNvSpPr txBox="1"/>
          <p:nvPr/>
        </p:nvSpPr>
        <p:spPr>
          <a:xfrm>
            <a:off x="304800" y="1541502"/>
            <a:ext cx="5715000" cy="630942"/>
          </a:xfrm>
          <a:prstGeom prst="rect">
            <a:avLst/>
          </a:prstGeom>
          <a:noFill/>
        </p:spPr>
        <p:txBody>
          <a:bodyPr wrap="square" rtlCol="0">
            <a:spAutoFit/>
          </a:bodyPr>
          <a:lstStyle/>
          <a:p>
            <a:r>
              <a:rPr lang="vi-VN" sz="3500" b="1"/>
              <a:t>Đánh giá và so sánh</a:t>
            </a:r>
            <a:endParaRPr lang="en-US" sz="3500" b="1"/>
          </a:p>
        </p:txBody>
      </p:sp>
      <p:pic>
        <p:nvPicPr>
          <p:cNvPr id="7" name="Picture 6" descr="A graph of a bar chart&#10;&#10;AI-generated content may be incorrect.">
            <a:extLst>
              <a:ext uri="{FF2B5EF4-FFF2-40B4-BE49-F238E27FC236}">
                <a16:creationId xmlns:a16="http://schemas.microsoft.com/office/drawing/2014/main" id="{E8027EFE-7770-8CBA-AE63-97B09A4FB1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2400300"/>
            <a:ext cx="10515600" cy="7294544"/>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D334B81F-47CF-2E80-54C3-32CEEF13F0F1}"/>
              </a:ext>
            </a:extLst>
          </p:cNvPr>
          <p:cNvSpPr txBox="1"/>
          <p:nvPr/>
        </p:nvSpPr>
        <p:spPr>
          <a:xfrm>
            <a:off x="10775860" y="2780528"/>
            <a:ext cx="7512140" cy="3086871"/>
          </a:xfrm>
          <a:prstGeom prst="rect">
            <a:avLst/>
          </a:prstGeom>
          <a:noFill/>
        </p:spPr>
        <p:txBody>
          <a:bodyPr wrap="square" rtlCol="0">
            <a:spAutoFit/>
          </a:bodyPr>
          <a:lstStyle/>
          <a:p>
            <a:pPr lvl="0">
              <a:lnSpc>
                <a:spcPct val="150000"/>
              </a:lnSpc>
            </a:pPr>
            <a:r>
              <a:rPr lang="vi-VN" sz="2200" b="1">
                <a:latin typeface="Arial" panose="020B0604020202020204" pitchFamily="34" charset="0"/>
                <a:cs typeface="Arial" panose="020B0604020202020204" pitchFamily="34" charset="0"/>
              </a:rPr>
              <a:t>Kết quả biểu đồ cho thấy:</a:t>
            </a:r>
          </a:p>
          <a:p>
            <a:pPr marL="342900" lvl="0" indent="-342900">
              <a:lnSpc>
                <a:spcPct val="150000"/>
              </a:lnSpc>
              <a:buFont typeface="Arial" panose="020B0604020202020204" pitchFamily="34" charset="0"/>
              <a:buChar char="•"/>
            </a:pPr>
            <a:r>
              <a:rPr lang="en-US" sz="2200" b="1">
                <a:latin typeface="Arial" panose="020B0604020202020204" pitchFamily="34" charset="0"/>
                <a:cs typeface="Arial" panose="020B0604020202020204" pitchFamily="34" charset="0"/>
              </a:rPr>
              <a:t>XGBoost</a:t>
            </a:r>
            <a:r>
              <a:rPr lang="en-US" sz="2200">
                <a:latin typeface="Arial" panose="020B0604020202020204" pitchFamily="34" charset="0"/>
                <a:cs typeface="Arial" panose="020B0604020202020204" pitchFamily="34" charset="0"/>
              </a:rPr>
              <a:t> đạt hiệu suất cao nhất với PR-AUC = 0.94 </a:t>
            </a:r>
          </a:p>
          <a:p>
            <a:pPr marL="342900" lvl="0" indent="-342900">
              <a:lnSpc>
                <a:spcPct val="150000"/>
              </a:lnSpc>
              <a:buFont typeface="Arial" panose="020B0604020202020204" pitchFamily="34" charset="0"/>
              <a:buChar char="•"/>
            </a:pPr>
            <a:r>
              <a:rPr lang="en-US" sz="2200" b="1">
                <a:latin typeface="Arial" panose="020B0604020202020204" pitchFamily="34" charset="0"/>
                <a:cs typeface="Arial" panose="020B0604020202020204" pitchFamily="34" charset="0"/>
              </a:rPr>
              <a:t>Logistic Regression</a:t>
            </a:r>
            <a:r>
              <a:rPr lang="en-US" sz="2200">
                <a:latin typeface="Arial" panose="020B0604020202020204" pitchFamily="34" charset="0"/>
                <a:cs typeface="Arial" panose="020B0604020202020204" pitchFamily="34" charset="0"/>
              </a:rPr>
              <a:t> đứng thứ hai với PR-AUC = 0.91 </a:t>
            </a:r>
          </a:p>
          <a:p>
            <a:pPr marL="342900" lvl="0" indent="-342900">
              <a:lnSpc>
                <a:spcPct val="150000"/>
              </a:lnSpc>
              <a:buFont typeface="Arial" panose="020B0604020202020204" pitchFamily="34" charset="0"/>
              <a:buChar char="•"/>
            </a:pPr>
            <a:r>
              <a:rPr lang="en-US" sz="2200" b="1">
                <a:latin typeface="Arial" panose="020B0604020202020204" pitchFamily="34" charset="0"/>
                <a:cs typeface="Arial" panose="020B0604020202020204" pitchFamily="34" charset="0"/>
              </a:rPr>
              <a:t>Random Forest</a:t>
            </a:r>
            <a:r>
              <a:rPr lang="en-US" sz="2200">
                <a:latin typeface="Arial" panose="020B0604020202020204" pitchFamily="34" charset="0"/>
                <a:cs typeface="Arial" panose="020B0604020202020204" pitchFamily="34" charset="0"/>
              </a:rPr>
              <a:t> đạt PR-AUC = 0.86 </a:t>
            </a:r>
          </a:p>
          <a:p>
            <a:pPr marL="342900" lvl="0" indent="-342900">
              <a:lnSpc>
                <a:spcPct val="150000"/>
              </a:lnSpc>
              <a:buFont typeface="Arial" panose="020B0604020202020204" pitchFamily="34" charset="0"/>
              <a:buChar char="•"/>
            </a:pPr>
            <a:r>
              <a:rPr lang="en-US" sz="2200" b="1">
                <a:latin typeface="Arial" panose="020B0604020202020204" pitchFamily="34" charset="0"/>
                <a:cs typeface="Arial" panose="020B0604020202020204" pitchFamily="34" charset="0"/>
              </a:rPr>
              <a:t>Naive Bayes</a:t>
            </a:r>
            <a:r>
              <a:rPr lang="en-US" sz="2200">
                <a:latin typeface="Arial" panose="020B0604020202020204" pitchFamily="34" charset="0"/>
                <a:cs typeface="Arial" panose="020B0604020202020204" pitchFamily="34" charset="0"/>
              </a:rPr>
              <a:t> có hiệu suất thấp nhất với PR-AUC = 0.82</a:t>
            </a:r>
          </a:p>
          <a:p>
            <a:pPr>
              <a:lnSpc>
                <a:spcPct val="150000"/>
              </a:lnSpc>
            </a:pPr>
            <a:endParaRPr lang="en-US" sz="2200"/>
          </a:p>
        </p:txBody>
      </p:sp>
    </p:spTree>
    <p:extLst>
      <p:ext uri="{BB962C8B-B14F-4D97-AF65-F5344CB8AC3E}">
        <p14:creationId xmlns:p14="http://schemas.microsoft.com/office/powerpoint/2010/main" val="353509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7BA96-52E6-F326-70B0-734389F3F51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26981E5-26F7-64CF-D298-62122CADCB40}"/>
              </a:ext>
            </a:extLst>
          </p:cNvPr>
          <p:cNvSpPr txBox="1"/>
          <p:nvPr/>
        </p:nvSpPr>
        <p:spPr>
          <a:xfrm>
            <a:off x="520790" y="193238"/>
            <a:ext cx="17030700" cy="1215717"/>
          </a:xfrm>
          <a:prstGeom prst="rect">
            <a:avLst/>
          </a:prstGeom>
          <a:noFill/>
        </p:spPr>
        <p:txBody>
          <a:bodyPr wrap="square" rtlCol="0">
            <a:spAutoFit/>
          </a:bodyPr>
          <a:lstStyle/>
          <a:p>
            <a:r>
              <a:rPr lang="vi-VN" sz="5500" b="1">
                <a:solidFill>
                  <a:srgbClr val="000000"/>
                </a:solidFill>
                <a:ea typeface="Archivo Black"/>
                <a:cs typeface="Arial" panose="020B0604020202020204" pitchFamily="34" charset="0"/>
                <a:sym typeface="Archivo Black"/>
              </a:rPr>
              <a:t>Chương 4: Kết luận và trả lời câu hỏi nghiên cứu</a:t>
            </a:r>
            <a:endParaRPr lang="en-US" sz="55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4" name="TextBox 3">
            <a:extLst>
              <a:ext uri="{FF2B5EF4-FFF2-40B4-BE49-F238E27FC236}">
                <a16:creationId xmlns:a16="http://schemas.microsoft.com/office/drawing/2014/main" id="{7E143E57-0C65-6543-4F13-DDDB03938848}"/>
              </a:ext>
            </a:extLst>
          </p:cNvPr>
          <p:cNvSpPr txBox="1"/>
          <p:nvPr/>
        </p:nvSpPr>
        <p:spPr>
          <a:xfrm>
            <a:off x="304800" y="1541502"/>
            <a:ext cx="6019800" cy="630942"/>
          </a:xfrm>
          <a:prstGeom prst="rect">
            <a:avLst/>
          </a:prstGeom>
          <a:noFill/>
        </p:spPr>
        <p:txBody>
          <a:bodyPr wrap="square" rtlCol="0">
            <a:spAutoFit/>
          </a:bodyPr>
          <a:lstStyle/>
          <a:p>
            <a:r>
              <a:rPr lang="vi-VN" sz="3500" b="1"/>
              <a:t>Trả lời câu hỏi nghiên cứu</a:t>
            </a:r>
            <a:endParaRPr lang="en-US" sz="3500" b="1"/>
          </a:p>
        </p:txBody>
      </p:sp>
      <p:sp>
        <p:nvSpPr>
          <p:cNvPr id="3" name="TextBox 2">
            <a:extLst>
              <a:ext uri="{FF2B5EF4-FFF2-40B4-BE49-F238E27FC236}">
                <a16:creationId xmlns:a16="http://schemas.microsoft.com/office/drawing/2014/main" id="{8094DDA5-30AB-4822-8BCA-934F5636878B}"/>
              </a:ext>
            </a:extLst>
          </p:cNvPr>
          <p:cNvSpPr txBox="1"/>
          <p:nvPr/>
        </p:nvSpPr>
        <p:spPr>
          <a:xfrm>
            <a:off x="685800" y="2400300"/>
            <a:ext cx="14782800" cy="2677656"/>
          </a:xfrm>
          <a:prstGeom prst="rect">
            <a:avLst/>
          </a:prstGeom>
          <a:noFill/>
        </p:spPr>
        <p:txBody>
          <a:bodyPr wrap="square" rtlCol="0">
            <a:spAutoFit/>
          </a:bodyPr>
          <a:lstStyle/>
          <a:p>
            <a:pPr>
              <a:lnSpc>
                <a:spcPct val="150000"/>
              </a:lnSpc>
            </a:pPr>
            <a:r>
              <a:rPr lang="en-US" sz="2600" b="1">
                <a:latin typeface="Arial" panose="020B0604020202020204" pitchFamily="34" charset="0"/>
                <a:cs typeface="Arial" panose="020B0604020202020204" pitchFamily="34" charset="0"/>
              </a:rPr>
              <a:t>Câu 1.Thuật toán máy học nào cho hiệu suất cao nhất trong việc phân loại tin tuyển </a:t>
            </a:r>
            <a:r>
              <a:rPr lang="vi-VN" sz="2600" b="1">
                <a:latin typeface="Arial" panose="020B0604020202020204" pitchFamily="34" charset="0"/>
                <a:cs typeface="Arial" panose="020B0604020202020204" pitchFamily="34" charset="0"/>
              </a:rPr>
              <a:t>dụng?</a:t>
            </a:r>
          </a:p>
          <a:p>
            <a:pPr marL="342900" indent="-342900">
              <a:lnSpc>
                <a:spcPct val="150000"/>
              </a:lnSpc>
              <a:buFont typeface="Wingdings" panose="05000000000000000000" pitchFamily="2" charset="2"/>
              <a:buChar char="Ø"/>
            </a:pPr>
            <a:r>
              <a:rPr lang="en-US" sz="2500">
                <a:latin typeface="Arial" panose="020B0604020202020204" pitchFamily="34" charset="0"/>
                <a:cs typeface="Arial" panose="020B0604020202020204" pitchFamily="34" charset="0"/>
              </a:rPr>
              <a:t>Thuật toán XGBoost Classifier cho thấy hiệu suất cao nhất trong bài toán phân loại tin tuyển dụng</a:t>
            </a:r>
            <a:r>
              <a:rPr lang="vi-VN" sz="2500">
                <a:latin typeface="Arial" panose="020B0604020202020204" pitchFamily="34" charset="0"/>
                <a:cs typeface="Arial" panose="020B0604020202020204" pitchFamily="34" charset="0"/>
              </a:rPr>
              <a:t> vì </a:t>
            </a:r>
            <a:r>
              <a:rPr lang="en-US" sz="2500">
                <a:latin typeface="Arial" panose="020B0604020202020204" pitchFamily="34" charset="0"/>
                <a:cs typeface="Arial" panose="020B0604020202020204" pitchFamily="34" charset="0"/>
              </a:rPr>
              <a:t>khả năng xử lý hiệu quả dữ liệu không cân bằng, học được các mối quan hệ phi tuyến phức tạp giữa các đặc trưng và tích hợp cơ chế regularization mạnh mẽ giúp giảm hiện tượng overfitting.</a:t>
            </a:r>
          </a:p>
          <a:p>
            <a:endParaRPr lang="en-US"/>
          </a:p>
        </p:txBody>
      </p:sp>
      <p:sp>
        <p:nvSpPr>
          <p:cNvPr id="5" name="AutoShape 3">
            <a:extLst>
              <a:ext uri="{FF2B5EF4-FFF2-40B4-BE49-F238E27FC236}">
                <a16:creationId xmlns:a16="http://schemas.microsoft.com/office/drawing/2014/main" id="{261A75C1-35A8-CAA5-5AAE-8DFC70FED6F9}"/>
              </a:ext>
            </a:extLst>
          </p:cNvPr>
          <p:cNvSpPr/>
          <p:nvPr/>
        </p:nvSpPr>
        <p:spPr>
          <a:xfrm flipV="1">
            <a:off x="-107860" y="5143500"/>
            <a:ext cx="18624460" cy="76200"/>
          </a:xfrm>
          <a:prstGeom prst="line">
            <a:avLst/>
          </a:prstGeom>
          <a:ln w="76200" cap="flat">
            <a:solidFill>
              <a:srgbClr val="000000"/>
            </a:solidFill>
            <a:prstDash val="solid"/>
            <a:headEnd type="none" w="sm" len="sm"/>
            <a:tailEnd type="none" w="sm" len="sm"/>
          </a:ln>
        </p:spPr>
        <p:txBody>
          <a:bodyPr/>
          <a:lstStyle/>
          <a:p>
            <a:endParaRPr lang="en-US"/>
          </a:p>
        </p:txBody>
      </p:sp>
      <p:sp>
        <p:nvSpPr>
          <p:cNvPr id="6" name="TextBox 5">
            <a:extLst>
              <a:ext uri="{FF2B5EF4-FFF2-40B4-BE49-F238E27FC236}">
                <a16:creationId xmlns:a16="http://schemas.microsoft.com/office/drawing/2014/main" id="{42319B15-404B-694F-1456-C30D1352B438}"/>
              </a:ext>
            </a:extLst>
          </p:cNvPr>
          <p:cNvSpPr txBox="1"/>
          <p:nvPr/>
        </p:nvSpPr>
        <p:spPr>
          <a:xfrm>
            <a:off x="685800" y="5771242"/>
            <a:ext cx="15316200" cy="3639458"/>
          </a:xfrm>
          <a:prstGeom prst="rect">
            <a:avLst/>
          </a:prstGeom>
          <a:noFill/>
        </p:spPr>
        <p:txBody>
          <a:bodyPr wrap="square" rtlCol="0">
            <a:spAutoFit/>
          </a:bodyPr>
          <a:lstStyle/>
          <a:p>
            <a:r>
              <a:rPr lang="en-US" sz="2600" b="1">
                <a:latin typeface="Arial" panose="020B0604020202020204" pitchFamily="34" charset="0"/>
                <a:cs typeface="Arial" panose="020B0604020202020204" pitchFamily="34" charset="0"/>
              </a:rPr>
              <a:t>Câu 2.Làm thế nào để cân bằng giữa chỉ số precision và </a:t>
            </a:r>
            <a:r>
              <a:rPr lang="vi-VN" sz="2600" b="1">
                <a:latin typeface="Arial" panose="020B0604020202020204" pitchFamily="34" charset="0"/>
                <a:cs typeface="Arial" panose="020B0604020202020204" pitchFamily="34" charset="0"/>
              </a:rPr>
              <a:t>recall?</a:t>
            </a:r>
          </a:p>
          <a:p>
            <a:pPr marL="342900" indent="-342900">
              <a:lnSpc>
                <a:spcPct val="150000"/>
              </a:lnSpc>
              <a:buFont typeface="Wingdings" panose="05000000000000000000" pitchFamily="2" charset="2"/>
              <a:buChar char="Ø"/>
            </a:pPr>
            <a:r>
              <a:rPr lang="vi-VN" sz="2500">
                <a:latin typeface="Arial" panose="020B0604020202020204" pitchFamily="34" charset="0"/>
                <a:cs typeface="Arial" panose="020B0604020202020204" pitchFamily="34" charset="0"/>
              </a:rPr>
              <a:t>Sử dụng F1-Score: Là trung bình điều hòa (harmonic mean) giữa Precision và Recall, dùng để tìm điểm cân bằng giữa hai chỉ số này.</a:t>
            </a:r>
          </a:p>
          <a:p>
            <a:pPr marL="342900" indent="-342900">
              <a:lnSpc>
                <a:spcPct val="150000"/>
              </a:lnSpc>
              <a:buFont typeface="Wingdings" panose="05000000000000000000" pitchFamily="2" charset="2"/>
              <a:buChar char="Ø"/>
            </a:pPr>
            <a:r>
              <a:rPr lang="vi-VN" sz="2500">
                <a:latin typeface="Arial" panose="020B0604020202020204" pitchFamily="34" charset="0"/>
                <a:cs typeface="Arial" panose="020B0604020202020204" pitchFamily="34" charset="0"/>
              </a:rPr>
              <a:t>Công thức: </a:t>
            </a:r>
          </a:p>
          <a:p>
            <a:pPr marL="342900" indent="-342900">
              <a:lnSpc>
                <a:spcPct val="150000"/>
              </a:lnSpc>
              <a:buFont typeface="Wingdings" panose="05000000000000000000" pitchFamily="2" charset="2"/>
              <a:buChar char="Ø"/>
            </a:pPr>
            <a:r>
              <a:rPr lang="vi-VN" sz="2500">
                <a:latin typeface="Arial" panose="020B0604020202020204" pitchFamily="34" charset="0"/>
                <a:cs typeface="Arial" panose="020B0604020202020204" pitchFamily="34" charset="0"/>
              </a:rPr>
              <a:t>Điều chỉnh Threshold: Thay đổi ngưỡng phân loại từ 0 đến 1 để tối ưu hóa diện tích dưới đường cong Precision-Recall (PR-AUC).</a:t>
            </a:r>
            <a:endParaRPr lang="en-US" sz="2500">
              <a:latin typeface="Arial" panose="020B0604020202020204" pitchFamily="34" charset="0"/>
              <a:cs typeface="Arial" panose="020B0604020202020204" pitchFamily="34" charset="0"/>
            </a:endParaRPr>
          </a:p>
          <a:p>
            <a:endParaRPr lang="en-US"/>
          </a:p>
        </p:txBody>
      </p:sp>
      <p:pic>
        <p:nvPicPr>
          <p:cNvPr id="11" name="Picture 10">
            <a:extLst>
              <a:ext uri="{FF2B5EF4-FFF2-40B4-BE49-F238E27FC236}">
                <a16:creationId xmlns:a16="http://schemas.microsoft.com/office/drawing/2014/main" id="{679246A5-744E-9799-63CD-2844CED1C0E3}"/>
              </a:ext>
            </a:extLst>
          </p:cNvPr>
          <p:cNvPicPr>
            <a:picLocks noChangeAspect="1"/>
          </p:cNvPicPr>
          <p:nvPr/>
        </p:nvPicPr>
        <p:blipFill>
          <a:blip r:embed="rId2"/>
          <a:stretch>
            <a:fillRect/>
          </a:stretch>
        </p:blipFill>
        <p:spPr>
          <a:xfrm>
            <a:off x="2819400" y="7334637"/>
            <a:ext cx="3267075" cy="714375"/>
          </a:xfrm>
          <a:prstGeom prst="rect">
            <a:avLst/>
          </a:prstGeom>
        </p:spPr>
      </p:pic>
    </p:spTree>
    <p:extLst>
      <p:ext uri="{BB962C8B-B14F-4D97-AF65-F5344CB8AC3E}">
        <p14:creationId xmlns:p14="http://schemas.microsoft.com/office/powerpoint/2010/main" val="234331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45FAD-376A-86C3-F1E2-02D1699E5BA7}"/>
            </a:ext>
          </a:extLst>
        </p:cNvPr>
        <p:cNvGrpSpPr/>
        <p:nvPr/>
      </p:nvGrpSpPr>
      <p:grpSpPr>
        <a:xfrm>
          <a:off x="0" y="0"/>
          <a:ext cx="0" cy="0"/>
          <a:chOff x="0" y="0"/>
          <a:chExt cx="0" cy="0"/>
        </a:xfrm>
      </p:grpSpPr>
      <p:sp>
        <p:nvSpPr>
          <p:cNvPr id="17" name="Freeform 2">
            <a:extLst>
              <a:ext uri="{FF2B5EF4-FFF2-40B4-BE49-F238E27FC236}">
                <a16:creationId xmlns:a16="http://schemas.microsoft.com/office/drawing/2014/main" id="{B655F72B-77AA-1849-7241-5A74A2078E4C}"/>
              </a:ext>
            </a:extLst>
          </p:cNvPr>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10" name="TextBox 9">
            <a:extLst>
              <a:ext uri="{FF2B5EF4-FFF2-40B4-BE49-F238E27FC236}">
                <a16:creationId xmlns:a16="http://schemas.microsoft.com/office/drawing/2014/main" id="{260EC033-20A8-28BE-E41D-1F0D8872E618}"/>
              </a:ext>
            </a:extLst>
          </p:cNvPr>
          <p:cNvSpPr txBox="1"/>
          <p:nvPr/>
        </p:nvSpPr>
        <p:spPr>
          <a:xfrm>
            <a:off x="520790" y="193238"/>
            <a:ext cx="17030700" cy="1215717"/>
          </a:xfrm>
          <a:prstGeom prst="rect">
            <a:avLst/>
          </a:prstGeom>
          <a:noFill/>
        </p:spPr>
        <p:txBody>
          <a:bodyPr wrap="square" rtlCol="0">
            <a:spAutoFit/>
          </a:bodyPr>
          <a:lstStyle/>
          <a:p>
            <a:r>
              <a:rPr lang="vi-VN" sz="5500" b="1">
                <a:solidFill>
                  <a:srgbClr val="000000"/>
                </a:solidFill>
                <a:ea typeface="Archivo Black"/>
                <a:cs typeface="Arial" panose="020B0604020202020204" pitchFamily="34" charset="0"/>
                <a:sym typeface="Archivo Black"/>
              </a:rPr>
              <a:t>Chương 4: Kết luận và trả lời câu hỏi nghiên cứu</a:t>
            </a:r>
            <a:endParaRPr lang="en-US" sz="55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4" name="TextBox 3">
            <a:extLst>
              <a:ext uri="{FF2B5EF4-FFF2-40B4-BE49-F238E27FC236}">
                <a16:creationId xmlns:a16="http://schemas.microsoft.com/office/drawing/2014/main" id="{35BFE537-D0AB-F7E9-6F27-AFDC7942D8C4}"/>
              </a:ext>
            </a:extLst>
          </p:cNvPr>
          <p:cNvSpPr txBox="1"/>
          <p:nvPr/>
        </p:nvSpPr>
        <p:spPr>
          <a:xfrm>
            <a:off x="304800" y="1409700"/>
            <a:ext cx="6019800" cy="630942"/>
          </a:xfrm>
          <a:prstGeom prst="rect">
            <a:avLst/>
          </a:prstGeom>
          <a:noFill/>
        </p:spPr>
        <p:txBody>
          <a:bodyPr wrap="square" rtlCol="0">
            <a:spAutoFit/>
          </a:bodyPr>
          <a:lstStyle/>
          <a:p>
            <a:r>
              <a:rPr lang="vi-VN" sz="3500" b="1"/>
              <a:t>Trả lời câu hỏi nghiên cứu</a:t>
            </a:r>
            <a:endParaRPr lang="en-US" sz="3500" b="1"/>
          </a:p>
        </p:txBody>
      </p:sp>
      <p:sp>
        <p:nvSpPr>
          <p:cNvPr id="3" name="TextBox 2">
            <a:extLst>
              <a:ext uri="{FF2B5EF4-FFF2-40B4-BE49-F238E27FC236}">
                <a16:creationId xmlns:a16="http://schemas.microsoft.com/office/drawing/2014/main" id="{9FBA067E-0EDE-45D4-0CA8-6A5EA44E8F87}"/>
              </a:ext>
            </a:extLst>
          </p:cNvPr>
          <p:cNvSpPr txBox="1"/>
          <p:nvPr/>
        </p:nvSpPr>
        <p:spPr>
          <a:xfrm>
            <a:off x="685800" y="2095500"/>
            <a:ext cx="17030700" cy="4420954"/>
          </a:xfrm>
          <a:prstGeom prst="rect">
            <a:avLst/>
          </a:prstGeom>
          <a:noFill/>
        </p:spPr>
        <p:txBody>
          <a:bodyPr wrap="square" rtlCol="0">
            <a:spAutoFit/>
          </a:bodyPr>
          <a:lstStyle/>
          <a:p>
            <a:pPr>
              <a:lnSpc>
                <a:spcPct val="150000"/>
              </a:lnSpc>
            </a:pPr>
            <a:r>
              <a:rPr lang="en-US" sz="2600" b="1">
                <a:latin typeface="Arial" panose="020B0604020202020204" pitchFamily="34" charset="0"/>
                <a:cs typeface="Arial" panose="020B0604020202020204" pitchFamily="34" charset="0"/>
              </a:rPr>
              <a:t>Câu 3.Việc áp dụng các kỹ thuật tái lấy mẫu như smote thì liệu có ảnh hưởng như thế nào đến khả năng phát hiện tin giả của mô </a:t>
            </a:r>
            <a:r>
              <a:rPr lang="vi-VN" sz="2600" b="1">
                <a:latin typeface="Arial" panose="020B0604020202020204" pitchFamily="34" charset="0"/>
                <a:cs typeface="Arial" panose="020B0604020202020204" pitchFamily="34" charset="0"/>
              </a:rPr>
              <a:t>hình?</a:t>
            </a:r>
            <a:endParaRPr lang="vi-VN" sz="2500">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Ø"/>
            </a:pPr>
            <a:r>
              <a:rPr lang="vi-VN" sz="2300"/>
              <a:t>Rủi ro từ SMOTE: Việc lạm dụng kỹ thuật này dễ gây ra hiện tượng Overfitting do mô hình phải học từ quá nhiều dữ liệu nhân tạo.</a:t>
            </a:r>
          </a:p>
          <a:p>
            <a:pPr marL="285750" indent="-285750">
              <a:lnSpc>
                <a:spcPct val="150000"/>
              </a:lnSpc>
              <a:buFont typeface="Wingdings" panose="05000000000000000000" pitchFamily="2" charset="2"/>
              <a:buChar char="Ø"/>
            </a:pPr>
            <a:r>
              <a:rPr lang="vi-VN" sz="2300"/>
              <a:t>Giải pháp thay thế: Đối với mô hình XGBoost, có thể sử dụng cơ chế scale_pos_weight để cân bằng các lớp trực tiếp trong hàm mất mát (loss function).</a:t>
            </a:r>
          </a:p>
          <a:p>
            <a:pPr marL="285750" indent="-285750">
              <a:lnSpc>
                <a:spcPct val="150000"/>
              </a:lnSpc>
              <a:buFont typeface="Wingdings" panose="05000000000000000000" pitchFamily="2" charset="2"/>
              <a:buChar char="Ø"/>
            </a:pPr>
            <a:r>
              <a:rPr lang="vi-VN" sz="2300"/>
              <a:t>Ưu điểm: Giúp giữ nguyên tính trung thực của dữ liệu gốc, tránh sinh dữ liệu giả và hạn chế tối đa nhiễu so với việc dùng SMOTE.</a:t>
            </a:r>
            <a:endParaRPr lang="en-US" sz="2300"/>
          </a:p>
        </p:txBody>
      </p:sp>
      <p:sp>
        <p:nvSpPr>
          <p:cNvPr id="14" name="AutoShape 3">
            <a:extLst>
              <a:ext uri="{FF2B5EF4-FFF2-40B4-BE49-F238E27FC236}">
                <a16:creationId xmlns:a16="http://schemas.microsoft.com/office/drawing/2014/main" id="{82BA0BFD-6769-BBF5-8E6F-37D2469FFDE3}"/>
              </a:ext>
            </a:extLst>
          </p:cNvPr>
          <p:cNvSpPr/>
          <p:nvPr/>
        </p:nvSpPr>
        <p:spPr>
          <a:xfrm flipV="1">
            <a:off x="-107860" y="6591300"/>
            <a:ext cx="18624460" cy="76200"/>
          </a:xfrm>
          <a:prstGeom prst="line">
            <a:avLst/>
          </a:prstGeom>
          <a:ln w="76200" cap="flat">
            <a:solidFill>
              <a:srgbClr val="000000"/>
            </a:solidFill>
            <a:prstDash val="solid"/>
            <a:headEnd type="none" w="sm" len="sm"/>
            <a:tailEnd type="none" w="sm" len="sm"/>
          </a:ln>
        </p:spPr>
        <p:txBody>
          <a:bodyPr/>
          <a:lstStyle/>
          <a:p>
            <a:endParaRPr lang="en-US">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3BEE32B-4C38-8D85-4611-A3F782BFD5C3}"/>
              </a:ext>
            </a:extLst>
          </p:cNvPr>
          <p:cNvSpPr txBox="1"/>
          <p:nvPr/>
        </p:nvSpPr>
        <p:spPr>
          <a:xfrm>
            <a:off x="914400" y="6896100"/>
            <a:ext cx="16802100" cy="3019032"/>
          </a:xfrm>
          <a:prstGeom prst="rect">
            <a:avLst/>
          </a:prstGeom>
          <a:noFill/>
        </p:spPr>
        <p:txBody>
          <a:bodyPr wrap="square" rtlCol="0">
            <a:spAutoFit/>
          </a:bodyPr>
          <a:lstStyle/>
          <a:p>
            <a:pPr>
              <a:lnSpc>
                <a:spcPct val="150000"/>
              </a:lnSpc>
            </a:pPr>
            <a:r>
              <a:rPr lang="en-US" sz="2600" b="1">
                <a:latin typeface="Arial" panose="020B0604020202020204" pitchFamily="34" charset="0"/>
                <a:cs typeface="Arial" panose="020B0604020202020204" pitchFamily="34" charset="0"/>
              </a:rPr>
              <a:t>Câu 4.Những đặc trưng chủ yếu về văn bản hoặc từ khóa (keywords) nào mang tính phân biệt cao nhất giúp nhận diện một tin tuyển dụng giả mạo.</a:t>
            </a:r>
            <a:endParaRPr lang="en-US" sz="2600">
              <a:latin typeface="Arial" panose="020B0604020202020204" pitchFamily="34" charset="0"/>
              <a:cs typeface="Arial" panose="020B0604020202020204" pitchFamily="34" charset="0"/>
            </a:endParaRPr>
          </a:p>
          <a:p>
            <a:pPr marL="342900" indent="-342900">
              <a:lnSpc>
                <a:spcPct val="150000"/>
              </a:lnSpc>
              <a:buFont typeface="Wingdings" panose="05000000000000000000" pitchFamily="2" charset="2"/>
              <a:buChar char="Ø"/>
            </a:pPr>
            <a:r>
              <a:rPr lang="en-US" sz="2500">
                <a:latin typeface="Arial" panose="020B0604020202020204" pitchFamily="34" charset="0"/>
                <a:cs typeface="Arial" panose="020B0604020202020204" pitchFamily="34" charset="0"/>
              </a:rPr>
              <a:t>petroleum, oil gas,oil energy, data entry, typing, clerical, work home,training provided, encouraged, administrative assitantm clerk</a:t>
            </a:r>
            <a:r>
              <a:rPr lang="vi-VN" sz="2500">
                <a:latin typeface="Arial" panose="020B0604020202020204" pitchFamily="34" charset="0"/>
                <a:cs typeface="Arial" panose="020B0604020202020204" pitchFamily="34" charset="0"/>
              </a:rPr>
              <a:t>.</a:t>
            </a:r>
            <a:endParaRPr lang="en-US" sz="2500">
              <a:latin typeface="Arial" panose="020B0604020202020204" pitchFamily="34" charset="0"/>
              <a:cs typeface="Arial" panose="020B0604020202020204" pitchFamily="34" charset="0"/>
            </a:endParaRPr>
          </a:p>
          <a:p>
            <a:pPr>
              <a:lnSpc>
                <a:spcPct val="150000"/>
              </a:lnSpc>
            </a:pPr>
            <a:endParaRPr lang="en-US" sz="2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3855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2B5C0-75D0-E334-5F9F-99214912ED0D}"/>
            </a:ext>
          </a:extLst>
        </p:cNvPr>
        <p:cNvGrpSpPr/>
        <p:nvPr/>
      </p:nvGrpSpPr>
      <p:grpSpPr>
        <a:xfrm>
          <a:off x="0" y="0"/>
          <a:ext cx="0" cy="0"/>
          <a:chOff x="0" y="0"/>
          <a:chExt cx="0" cy="0"/>
        </a:xfrm>
      </p:grpSpPr>
      <p:sp>
        <p:nvSpPr>
          <p:cNvPr id="17" name="Freeform 2">
            <a:extLst>
              <a:ext uri="{FF2B5EF4-FFF2-40B4-BE49-F238E27FC236}">
                <a16:creationId xmlns:a16="http://schemas.microsoft.com/office/drawing/2014/main" id="{3B261125-C5BD-9F4C-C792-7B897B5D7A64}"/>
              </a:ext>
            </a:extLst>
          </p:cNvPr>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10" name="TextBox 9">
            <a:extLst>
              <a:ext uri="{FF2B5EF4-FFF2-40B4-BE49-F238E27FC236}">
                <a16:creationId xmlns:a16="http://schemas.microsoft.com/office/drawing/2014/main" id="{555CE0F7-1C5E-C83E-1F46-B915E2FD6731}"/>
              </a:ext>
            </a:extLst>
          </p:cNvPr>
          <p:cNvSpPr txBox="1"/>
          <p:nvPr/>
        </p:nvSpPr>
        <p:spPr>
          <a:xfrm>
            <a:off x="520790" y="193238"/>
            <a:ext cx="17030700" cy="1215717"/>
          </a:xfrm>
          <a:prstGeom prst="rect">
            <a:avLst/>
          </a:prstGeom>
          <a:noFill/>
        </p:spPr>
        <p:txBody>
          <a:bodyPr wrap="square" rtlCol="0">
            <a:spAutoFit/>
          </a:bodyPr>
          <a:lstStyle/>
          <a:p>
            <a:r>
              <a:rPr lang="vi-VN" sz="5500" b="1">
                <a:solidFill>
                  <a:srgbClr val="000000"/>
                </a:solidFill>
                <a:ea typeface="Archivo Black"/>
                <a:cs typeface="Arial" panose="020B0604020202020204" pitchFamily="34" charset="0"/>
                <a:sym typeface="Archivo Black"/>
              </a:rPr>
              <a:t>Chương 4: Kết luận và trả lời câu hỏi nghiên cứu</a:t>
            </a:r>
            <a:endParaRPr lang="en-US" sz="5500" b="1">
              <a:solidFill>
                <a:srgbClr val="000000"/>
              </a:solidFill>
              <a:latin typeface="Arial" panose="020B0604020202020204" pitchFamily="34" charset="0"/>
              <a:ea typeface="Archivo Black"/>
              <a:cs typeface="Arial" panose="020B0604020202020204" pitchFamily="34" charset="0"/>
              <a:sym typeface="Archivo Black"/>
            </a:endParaRPr>
          </a:p>
          <a:p>
            <a:endParaRPr lang="en-US"/>
          </a:p>
        </p:txBody>
      </p:sp>
      <p:sp>
        <p:nvSpPr>
          <p:cNvPr id="4" name="TextBox 3">
            <a:extLst>
              <a:ext uri="{FF2B5EF4-FFF2-40B4-BE49-F238E27FC236}">
                <a16:creationId xmlns:a16="http://schemas.microsoft.com/office/drawing/2014/main" id="{3652902F-9A7E-282B-4862-1726B8285C5A}"/>
              </a:ext>
            </a:extLst>
          </p:cNvPr>
          <p:cNvSpPr txBox="1"/>
          <p:nvPr/>
        </p:nvSpPr>
        <p:spPr>
          <a:xfrm>
            <a:off x="304800" y="1409700"/>
            <a:ext cx="6019800" cy="630942"/>
          </a:xfrm>
          <a:prstGeom prst="rect">
            <a:avLst/>
          </a:prstGeom>
          <a:noFill/>
        </p:spPr>
        <p:txBody>
          <a:bodyPr wrap="square" rtlCol="0">
            <a:spAutoFit/>
          </a:bodyPr>
          <a:lstStyle/>
          <a:p>
            <a:r>
              <a:rPr lang="vi-VN" sz="3500" b="1"/>
              <a:t>Trả lời câu hỏi nghiên cứu</a:t>
            </a:r>
            <a:endParaRPr lang="en-US" sz="3500" b="1"/>
          </a:p>
        </p:txBody>
      </p:sp>
      <p:sp>
        <p:nvSpPr>
          <p:cNvPr id="3" name="TextBox 2">
            <a:extLst>
              <a:ext uri="{FF2B5EF4-FFF2-40B4-BE49-F238E27FC236}">
                <a16:creationId xmlns:a16="http://schemas.microsoft.com/office/drawing/2014/main" id="{AF7C3642-C754-E447-25C2-610A0B75202D}"/>
              </a:ext>
            </a:extLst>
          </p:cNvPr>
          <p:cNvSpPr txBox="1"/>
          <p:nvPr/>
        </p:nvSpPr>
        <p:spPr>
          <a:xfrm>
            <a:off x="381000" y="2095500"/>
            <a:ext cx="18059400" cy="2465034"/>
          </a:xfrm>
          <a:prstGeom prst="rect">
            <a:avLst/>
          </a:prstGeom>
          <a:noFill/>
        </p:spPr>
        <p:txBody>
          <a:bodyPr wrap="square" rtlCol="0">
            <a:spAutoFit/>
          </a:bodyPr>
          <a:lstStyle/>
          <a:p>
            <a:pPr>
              <a:lnSpc>
                <a:spcPct val="150000"/>
              </a:lnSpc>
            </a:pPr>
            <a:r>
              <a:rPr lang="en-US" sz="2600" b="1">
                <a:latin typeface="Arial" panose="020B0604020202020204" pitchFamily="34" charset="0"/>
                <a:cs typeface="Arial" panose="020B0604020202020204" pitchFamily="34" charset="0"/>
              </a:rPr>
              <a:t>Câu 5.Phương pháp trích xuất đặc trung nào (TF-IDF, Count Vectorized, Word Embeddings như Word2Vec/BERT) mang lại đầu vào tốt nhất cho mô hình phân loại trong ngữ cảnh </a:t>
            </a:r>
            <a:r>
              <a:rPr lang="vi-VN" sz="2600" b="1">
                <a:latin typeface="Arial" panose="020B0604020202020204" pitchFamily="34" charset="0"/>
                <a:cs typeface="Arial" panose="020B0604020202020204" pitchFamily="34" charset="0"/>
              </a:rPr>
              <a:t>này?</a:t>
            </a:r>
          </a:p>
          <a:p>
            <a:pPr marL="342900" indent="-342900">
              <a:lnSpc>
                <a:spcPct val="150000"/>
              </a:lnSpc>
              <a:buFont typeface="Wingdings" panose="05000000000000000000" pitchFamily="2" charset="2"/>
              <a:buChar char="Ø"/>
            </a:pPr>
            <a:r>
              <a:rPr lang="vi-VN" sz="2500"/>
              <a:t>Count Vector</a:t>
            </a:r>
            <a:endParaRPr lang="en-US" sz="2500"/>
          </a:p>
          <a:p>
            <a:pPr>
              <a:lnSpc>
                <a:spcPct val="150000"/>
              </a:lnSpc>
            </a:pPr>
            <a:r>
              <a:rPr lang="vi-VN" sz="2600">
                <a:latin typeface="Arial" panose="020B0604020202020204" pitchFamily="34" charset="0"/>
                <a:cs typeface="Arial" panose="020B0604020202020204" pitchFamily="34" charset="0"/>
              </a:rPr>
              <a:t>Chứng minh:</a:t>
            </a:r>
            <a:endParaRPr lang="en-US" sz="260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3E2A3157-6C32-425A-43C3-AB6DF7D9B045}"/>
              </a:ext>
            </a:extLst>
          </p:cNvPr>
          <p:cNvPicPr>
            <a:picLocks noChangeAspect="1"/>
          </p:cNvPicPr>
          <p:nvPr/>
        </p:nvPicPr>
        <p:blipFill>
          <a:blip r:embed="rId3"/>
          <a:stretch>
            <a:fillRect/>
          </a:stretch>
        </p:blipFill>
        <p:spPr>
          <a:xfrm>
            <a:off x="3817069" y="3536852"/>
            <a:ext cx="10653861" cy="67818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66066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2781300" y="4888875"/>
            <a:ext cx="12725400" cy="1016625"/>
          </a:xfrm>
          <a:prstGeom prst="rect">
            <a:avLst/>
          </a:prstGeom>
        </p:spPr>
        <p:txBody>
          <a:bodyPr wrap="square" lIns="0" tIns="0" rIns="0" bIns="0" rtlCol="0" anchor="t">
            <a:spAutoFit/>
          </a:bodyPr>
          <a:lstStyle/>
          <a:p>
            <a:pPr algn="l">
              <a:lnSpc>
                <a:spcPts val="4530"/>
              </a:lnSpc>
            </a:pPr>
            <a:r>
              <a:rPr lang="en-US" sz="20000" b="1" spc="-458">
                <a:solidFill>
                  <a:srgbClr val="000000"/>
                </a:solidFill>
                <a:latin typeface="Arial" panose="020B0604020202020204" pitchFamily="34" charset="0"/>
                <a:ea typeface="Archivo Black"/>
                <a:cs typeface="Arial" panose="020B0604020202020204" pitchFamily="34" charset="0"/>
                <a:sym typeface="Archivo Black"/>
              </a:rPr>
              <a:t>Thank you</a:t>
            </a:r>
          </a:p>
        </p:txBody>
      </p:sp>
      <p:sp>
        <p:nvSpPr>
          <p:cNvPr id="17" name="Freeform 6">
            <a:extLst>
              <a:ext uri="{FF2B5EF4-FFF2-40B4-BE49-F238E27FC236}">
                <a16:creationId xmlns:a16="http://schemas.microsoft.com/office/drawing/2014/main" id="{6B8FDE26-48CB-00B2-03BB-987892C7E3FB}"/>
              </a:ext>
            </a:extLst>
          </p:cNvPr>
          <p:cNvSpPr/>
          <p:nvPr/>
        </p:nvSpPr>
        <p:spPr>
          <a:xfrm>
            <a:off x="15316200" y="6057900"/>
            <a:ext cx="2971800" cy="4191000"/>
          </a:xfrm>
          <a:custGeom>
            <a:avLst/>
            <a:gdLst/>
            <a:ahLst/>
            <a:cxnLst/>
            <a:rect l="l" t="t" r="r" b="b"/>
            <a:pathLst>
              <a:path w="2611028" h="4114800">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3">
            <a:extLst>
              <a:ext uri="{FF2B5EF4-FFF2-40B4-BE49-F238E27FC236}">
                <a16:creationId xmlns:a16="http://schemas.microsoft.com/office/drawing/2014/main" id="{3317D4C1-B37F-4903-9221-70048E462B85}"/>
              </a:ext>
            </a:extLst>
          </p:cNvPr>
          <p:cNvSpPr/>
          <p:nvPr/>
        </p:nvSpPr>
        <p:spPr>
          <a:xfrm>
            <a:off x="0" y="8191500"/>
            <a:ext cx="3810000" cy="2064310"/>
          </a:xfrm>
          <a:custGeom>
            <a:avLst/>
            <a:gdLst/>
            <a:ahLst/>
            <a:cxnLst/>
            <a:rect l="l" t="t" r="r" b="b"/>
            <a:pathLst>
              <a:path w="3493612" h="1759510">
                <a:moveTo>
                  <a:pt x="0" y="0"/>
                </a:moveTo>
                <a:lnTo>
                  <a:pt x="3493612" y="0"/>
                </a:lnTo>
                <a:lnTo>
                  <a:pt x="3493612" y="1759510"/>
                </a:lnTo>
                <a:lnTo>
                  <a:pt x="0" y="17595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9" name="Freeform 8">
            <a:extLst>
              <a:ext uri="{FF2B5EF4-FFF2-40B4-BE49-F238E27FC236}">
                <a16:creationId xmlns:a16="http://schemas.microsoft.com/office/drawing/2014/main" id="{9C0BB44B-3D19-4E57-B7A5-F2C9AE3CBFE6}"/>
              </a:ext>
            </a:extLst>
          </p:cNvPr>
          <p:cNvSpPr/>
          <p:nvPr/>
        </p:nvSpPr>
        <p:spPr>
          <a:xfrm>
            <a:off x="0" y="38100"/>
            <a:ext cx="18288000" cy="2133600"/>
          </a:xfrm>
          <a:custGeom>
            <a:avLst/>
            <a:gdLst/>
            <a:ahLst/>
            <a:cxnLst/>
            <a:rect l="l" t="t" r="r" b="b"/>
            <a:pathLst>
              <a:path w="2611028" h="1020674">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0" name="Freeform 8">
            <a:extLst>
              <a:ext uri="{FF2B5EF4-FFF2-40B4-BE49-F238E27FC236}">
                <a16:creationId xmlns:a16="http://schemas.microsoft.com/office/drawing/2014/main" id="{92D97B23-CE70-D733-8E13-E8070B27D926}"/>
              </a:ext>
            </a:extLst>
          </p:cNvPr>
          <p:cNvSpPr/>
          <p:nvPr/>
        </p:nvSpPr>
        <p:spPr>
          <a:xfrm>
            <a:off x="0" y="6515100"/>
            <a:ext cx="4648200" cy="1371600"/>
          </a:xfrm>
          <a:custGeom>
            <a:avLst/>
            <a:gdLst/>
            <a:ahLst/>
            <a:cxnLst/>
            <a:rect l="l" t="t" r="r" b="b"/>
            <a:pathLst>
              <a:path w="2611028" h="1020674">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987</TotalTime>
  <Words>3280</Words>
  <Application>Microsoft Office PowerPoint</Application>
  <PresentationFormat>Custom</PresentationFormat>
  <Paragraphs>243</Paragraphs>
  <Slides>28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Garet Bold</vt:lpstr>
      <vt:lpstr>Garet</vt:lpstr>
      <vt:lpstr>Calibri</vt:lpstr>
      <vt:lpstr>Arial</vt:lpstr>
      <vt:lpstr>Aptos</vt:lpstr>
      <vt:lpstr>Archivo Black</vt:lpstr>
      <vt:lpstr>Wingdings</vt:lpstr>
      <vt:lpstr>Garet Light</vt:lpstr>
      <vt:lpstr>DM Serif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Black Minimalist Project Deck Presentation</dc:title>
  <cp:lastModifiedBy>Duy Hà</cp:lastModifiedBy>
  <cp:revision>31</cp:revision>
  <dcterms:created xsi:type="dcterms:W3CDTF">2006-08-16T00:00:00Z</dcterms:created>
  <dcterms:modified xsi:type="dcterms:W3CDTF">2025-12-25T13:38:41Z</dcterms:modified>
  <dc:identifier>DAG8IZa9mYE</dc:identifier>
</cp:coreProperties>
</file>